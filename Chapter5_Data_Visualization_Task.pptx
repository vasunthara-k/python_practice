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99AC5-DF96-426B-A255-A6C2DF6300FD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1CA06-CDF9-4B77-BF64-204D8E1A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87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1CA06-CDF9-4B77-BF64-204D8E1A481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368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113B-7733-34BA-DCD2-50DC720C8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43DCE-B93E-7067-9D0E-81893472A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7B054-F14E-9B83-324C-894F862E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D134B-F0F0-EA1E-A6FC-C53E2126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61CC4-5E66-99A8-8508-C5374F4C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55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ED3C-136C-67CA-C832-F34979F0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0FB31-D171-068B-A77F-8F23E02B9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9F834-BC89-C1D4-BDC6-2E51060D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2FE0B-D81B-FF8E-BAE4-8EA59BF4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85CA1-BD6C-E897-9C8A-0CB5CE98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03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7DF9-1002-7302-9CA6-EE458828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89FC1-2B61-4A8F-EBB7-EDB5C6F29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FA34F-112C-ACC6-0FF5-7CFEEAB7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865CF-CB22-5199-D8BC-03C1C78E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A8EC0-FA56-8D8F-190C-F829E859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39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26A5-3C08-D674-6D2D-5AB0E3E4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39AF2-E508-5E0D-67C0-8633F7479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4BCDE-7804-78E7-4D38-456CF3CB7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C61B3-2927-C23C-EA81-607906C9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3A8B0-A94B-2914-C7CA-9A4215DA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565A-FFBC-E617-A130-CB0F6FF2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01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5341-5227-8682-56F5-96142B8AF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0816B-3C70-90A3-39D5-CF9BEF2F0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E2650-1E19-9C55-29A8-36A95980B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1FEB8-0B50-52AE-E192-632704B6A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AA187-B36E-D84F-D536-9FBD5FDB5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8BC72-7833-52F6-3AE2-E8A0A943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AE291-9023-4D2E-5CA6-70474530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3C19D-9D01-EA4B-9DF3-888762E5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0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2FB-E225-8BFF-CA4C-F7BD5B2F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D87EB-5B66-08A1-B219-21C73884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2AEDD-E513-EBF9-167C-FA26DDFF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79CE9-0365-9BA7-7A2D-23EC6FD6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49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47D7D4-B4E3-18F8-BD68-DC30368B2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73074-B5E3-E779-99D5-93A80CFE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84D6B-1088-FBFA-3C89-75B6C0C9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23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5814-87C5-E1EC-75AB-E010C552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B8D99-5B34-A064-2C72-3C4437C02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77483-B7AD-C1DC-251A-FA6C50074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88647-6B0B-AF06-AC75-BF23217D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8F6E1-970A-C7F7-2B71-BD1B61E1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66FF8-F253-5FB4-AE59-7FD87C1C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55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59E75-425B-63F4-1830-732BF280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82D521-E76F-82D0-FDA2-474418D35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A3950-17CF-8E02-0460-9E70ED127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84EB4-64A0-21EC-9CFE-57A49612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BC451-1DA9-A0A3-7790-DFBAE1955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5FE0C-5EF5-FF95-67D6-8E279021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17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93CC-E80D-1BD0-338F-2043E379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52AC0-9283-D375-583A-E1AA9ED21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EF97C-94BA-68BE-0961-05779AE0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8490E-2259-17DD-661B-23A084F3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33C6-5975-8906-749E-C5D6E495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8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38F86-33C7-31B5-7323-F061E2894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B0BD4-04D9-2B56-E7B7-5BCBBF963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8D60E-3495-CF31-BAD6-EEDF9187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DA2E8-A057-67B6-DF33-63C88D7E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C9181-ACBD-1C2C-7010-9EFAB0DA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65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19A9B-5551-F21C-14A2-4EBD8EBD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2D153-A801-1244-76C4-A2F3F1BB0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37FE3-7ABC-DC1E-2EF1-5997933C9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DA619-71BF-4A02-94F6-E8C87B1F336C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789EB-3252-B0D2-6FAF-218901B3F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09694-4138-E325-1F89-31DB82410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52286-583B-43EA-800C-11F325CB6A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45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64F7-4A2D-8848-1EDA-F7712EA91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3437"/>
            <a:ext cx="9144000" cy="1343706"/>
          </a:xfrm>
        </p:spPr>
        <p:txBody>
          <a:bodyPr>
            <a:normAutofit/>
          </a:bodyPr>
          <a:lstStyle/>
          <a:p>
            <a:r>
              <a:rPr lang="en-IN" sz="3600" b="1" u="sng" dirty="0"/>
              <a:t>Amazon Product 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2021F-D89A-A096-51C6-33530047B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400" y="2796495"/>
            <a:ext cx="9144000" cy="165576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This analysis explores Amazon product data, covering categories, pricing, discounts, ratings, and customer engagement.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/>
              <a:t> The objective is to identify meaningful patterns and derive actionable insights through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15257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6128-6B70-3808-EA3B-8D37A356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8" y="365124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Product Category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FD320-8345-BAF0-FEFE-E80355942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541" y="1690687"/>
            <a:ext cx="6651517" cy="3739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A8F92F-D479-3A08-749C-61CBD5B2D6EF}"/>
              </a:ext>
            </a:extLst>
          </p:cNvPr>
          <p:cNvSpPr txBox="1"/>
          <p:nvPr/>
        </p:nvSpPr>
        <p:spPr>
          <a:xfrm>
            <a:off x="7043058" y="2496969"/>
            <a:ext cx="4757401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Electronics has the highest product representation, followed by Computers &amp; Accessories and Home &amp; Kitchen.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These three categories holds majority of products.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5ABD6-2D1C-BF56-BD76-6584E0DEDF90}"/>
              </a:ext>
            </a:extLst>
          </p:cNvPr>
          <p:cNvSpPr txBox="1"/>
          <p:nvPr/>
        </p:nvSpPr>
        <p:spPr>
          <a:xfrm>
            <a:off x="7043058" y="1981200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Insights:</a:t>
            </a:r>
          </a:p>
        </p:txBody>
      </p:sp>
    </p:spTree>
    <p:extLst>
      <p:ext uri="{BB962C8B-B14F-4D97-AF65-F5344CB8AC3E}">
        <p14:creationId xmlns:p14="http://schemas.microsoft.com/office/powerpoint/2010/main" val="286266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050E-8ACD-9824-711C-08BEA1CE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Product Rating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AEC995-50A9-18C5-EAD6-BBE333BC6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5606144" cy="41875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A8ACCD-BA3C-E613-B3CE-74EE0D938954}"/>
              </a:ext>
            </a:extLst>
          </p:cNvPr>
          <p:cNvSpPr txBox="1"/>
          <p:nvPr/>
        </p:nvSpPr>
        <p:spPr>
          <a:xfrm>
            <a:off x="6908074" y="2022331"/>
            <a:ext cx="5116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Insights: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FB44A-97CA-50B7-592E-D46DEBB6D664}"/>
              </a:ext>
            </a:extLst>
          </p:cNvPr>
          <p:cNvSpPr txBox="1"/>
          <p:nvPr/>
        </p:nvSpPr>
        <p:spPr>
          <a:xfrm>
            <a:off x="6908074" y="2861157"/>
            <a:ext cx="5042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Product ratings are predominantly concentrated between 4.0 and 4.5, indicating generally strong customer ratings across the product offerings.</a:t>
            </a:r>
          </a:p>
        </p:txBody>
      </p:sp>
    </p:spTree>
    <p:extLst>
      <p:ext uri="{BB962C8B-B14F-4D97-AF65-F5344CB8AC3E}">
        <p14:creationId xmlns:p14="http://schemas.microsoft.com/office/powerpoint/2010/main" val="301027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83FA-B06C-D281-7D2C-625BC932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Discount Percentage by Product Category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2E3EA4-AD59-9C11-13D4-FE64CCB5C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11085"/>
            <a:ext cx="6226629" cy="4201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EBB07D-9F37-BDF6-1A2C-335B09FDB175}"/>
              </a:ext>
            </a:extLst>
          </p:cNvPr>
          <p:cNvSpPr txBox="1"/>
          <p:nvPr/>
        </p:nvSpPr>
        <p:spPr>
          <a:xfrm>
            <a:off x="7532915" y="2362201"/>
            <a:ext cx="1518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Key Insights: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5A264-CA07-404E-421B-D9A599213735}"/>
              </a:ext>
            </a:extLst>
          </p:cNvPr>
          <p:cNvSpPr txBox="1"/>
          <p:nvPr/>
        </p:nvSpPr>
        <p:spPr>
          <a:xfrm>
            <a:off x="7326086" y="3200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3287B-DCED-26A3-4F40-02C011608204}"/>
              </a:ext>
            </a:extLst>
          </p:cNvPr>
          <p:cNvSpPr txBox="1"/>
          <p:nvPr/>
        </p:nvSpPr>
        <p:spPr>
          <a:xfrm>
            <a:off x="7532915" y="2967335"/>
            <a:ext cx="4659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Home Improvement products show the highest discount percentage, while Office Products have the lowest.</a:t>
            </a:r>
          </a:p>
        </p:txBody>
      </p:sp>
    </p:spTree>
    <p:extLst>
      <p:ext uri="{BB962C8B-B14F-4D97-AF65-F5344CB8AC3E}">
        <p14:creationId xmlns:p14="http://schemas.microsoft.com/office/powerpoint/2010/main" val="366535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108F-3491-8586-DF0E-B7FC00D4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Actual Price vs Discounted Price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628911-F102-4080-6645-3CE38761F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248399" cy="4318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DD80D9-9D8C-9350-3C04-9E1780E7B39F}"/>
              </a:ext>
            </a:extLst>
          </p:cNvPr>
          <p:cNvSpPr txBox="1"/>
          <p:nvPr/>
        </p:nvSpPr>
        <p:spPr>
          <a:xfrm>
            <a:off x="7260771" y="1951204"/>
            <a:ext cx="3156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Insight: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D9ED4-087C-237C-188E-3247F42B77A2}"/>
              </a:ext>
            </a:extLst>
          </p:cNvPr>
          <p:cNvSpPr txBox="1"/>
          <p:nvPr/>
        </p:nvSpPr>
        <p:spPr>
          <a:xfrm>
            <a:off x="7260771" y="2649472"/>
            <a:ext cx="4702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Actual price and discounted price show a strong positive relationship, with higher-priced products generally has higher discounted prices.</a:t>
            </a:r>
          </a:p>
        </p:txBody>
      </p:sp>
    </p:spTree>
    <p:extLst>
      <p:ext uri="{BB962C8B-B14F-4D97-AF65-F5344CB8AC3E}">
        <p14:creationId xmlns:p14="http://schemas.microsoft.com/office/powerpoint/2010/main" val="169508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0AF1E-D53D-85D2-3311-C00084BA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Discount Percentage vs Product Rating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3FB2E0-EB6B-D439-9442-11236F1D5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287" y="1690688"/>
            <a:ext cx="6444342" cy="4198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E868B8-B536-779D-6E5E-C319CD0C7042}"/>
              </a:ext>
            </a:extLst>
          </p:cNvPr>
          <p:cNvSpPr txBox="1"/>
          <p:nvPr/>
        </p:nvSpPr>
        <p:spPr>
          <a:xfrm>
            <a:off x="7260771" y="2090057"/>
            <a:ext cx="3243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Insight: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0CDBC-28DE-EBEE-E002-B398D028362F}"/>
              </a:ext>
            </a:extLst>
          </p:cNvPr>
          <p:cNvSpPr txBox="1"/>
          <p:nvPr/>
        </p:nvSpPr>
        <p:spPr>
          <a:xfrm>
            <a:off x="7141029" y="2873829"/>
            <a:ext cx="43978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Product ratings show no clear relationship with discount percentage, suggesting that higher discounts do not necessarily correspond to higher customer ratings.</a:t>
            </a:r>
          </a:p>
        </p:txBody>
      </p:sp>
    </p:spTree>
    <p:extLst>
      <p:ext uri="{BB962C8B-B14F-4D97-AF65-F5344CB8AC3E}">
        <p14:creationId xmlns:p14="http://schemas.microsoft.com/office/powerpoint/2010/main" val="2896298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46C3-F4AD-D536-63A3-7A8DA0BF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Distribution of Discounted Prices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81C3D-0E95-C419-1E06-AF41585F5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258" y="1866258"/>
            <a:ext cx="6792686" cy="39299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ECA614-C96B-D549-7E19-54B5F9F5C1A6}"/>
              </a:ext>
            </a:extLst>
          </p:cNvPr>
          <p:cNvSpPr txBox="1"/>
          <p:nvPr/>
        </p:nvSpPr>
        <p:spPr>
          <a:xfrm>
            <a:off x="7434944" y="2550746"/>
            <a:ext cx="3026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Insight: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8DF43-6A9C-4AE7-1F11-FBFF220ADD73}"/>
              </a:ext>
            </a:extLst>
          </p:cNvPr>
          <p:cNvSpPr txBox="1"/>
          <p:nvPr/>
        </p:nvSpPr>
        <p:spPr>
          <a:xfrm>
            <a:off x="7434944" y="3331028"/>
            <a:ext cx="42889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Most products are concentrated in the lower discounted-price range, while relatively few products are positioned at higher price points.</a:t>
            </a:r>
          </a:p>
        </p:txBody>
      </p:sp>
    </p:spTree>
    <p:extLst>
      <p:ext uri="{BB962C8B-B14F-4D97-AF65-F5344CB8AC3E}">
        <p14:creationId xmlns:p14="http://schemas.microsoft.com/office/powerpoint/2010/main" val="3800296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ED9A-0102-C852-B9FE-4DFB8923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Product Category Contribution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807A8A0-56D2-B348-EC8A-0FAD8AC60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543" y="1556656"/>
            <a:ext cx="4626427" cy="4158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5E2808-E0A4-6E21-57A2-F1C8F21C342D}"/>
              </a:ext>
            </a:extLst>
          </p:cNvPr>
          <p:cNvSpPr txBox="1"/>
          <p:nvPr/>
        </p:nvSpPr>
        <p:spPr>
          <a:xfrm>
            <a:off x="7064828" y="1452372"/>
            <a:ext cx="3537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Insights: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A502A-99DD-95B7-9678-FC64ED9AF292}"/>
              </a:ext>
            </a:extLst>
          </p:cNvPr>
          <p:cNvSpPr txBox="1"/>
          <p:nvPr/>
        </p:nvSpPr>
        <p:spPr>
          <a:xfrm>
            <a:off x="7064828" y="2373086"/>
            <a:ext cx="48114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buFont typeface="Wingdings" panose="05000000000000000000" pitchFamily="2" charset="2"/>
              <a:buChar char="§"/>
            </a:pPr>
            <a:r>
              <a:rPr lang="en-IN" sz="2000" b="1" dirty="0"/>
              <a:t>Electronics, Computers &amp; Accessories , Home &amp; Kitchen category holds most of the products and very few products are from other categories.</a:t>
            </a:r>
          </a:p>
        </p:txBody>
      </p:sp>
    </p:spTree>
    <p:extLst>
      <p:ext uri="{BB962C8B-B14F-4D97-AF65-F5344CB8AC3E}">
        <p14:creationId xmlns:p14="http://schemas.microsoft.com/office/powerpoint/2010/main" val="402087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A4C8-D493-93A4-AC22-7CA9C57A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Relationships Across Product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CBE926-4596-ADD7-765D-E8A106F08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715" y="1850571"/>
            <a:ext cx="5103256" cy="4173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119DA6-CFAA-E469-3F1F-B1CB950F755F}"/>
              </a:ext>
            </a:extLst>
          </p:cNvPr>
          <p:cNvSpPr txBox="1"/>
          <p:nvPr/>
        </p:nvSpPr>
        <p:spPr>
          <a:xfrm>
            <a:off x="6346371" y="1850571"/>
            <a:ext cx="315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Insights: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E5102-CBCE-A65A-887E-1FBA3F89E976}"/>
              </a:ext>
            </a:extLst>
          </p:cNvPr>
          <p:cNvSpPr txBox="1"/>
          <p:nvPr/>
        </p:nvSpPr>
        <p:spPr>
          <a:xfrm>
            <a:off x="6379031" y="2474428"/>
            <a:ext cx="52360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Actual price and discounted price show a very strong positive relationship, indicating that higher-priced products generally have higher discounted prices.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Discount percentage does not appear to have a strong relationship with product ratings.</a:t>
            </a:r>
          </a:p>
        </p:txBody>
      </p:sp>
    </p:spTree>
    <p:extLst>
      <p:ext uri="{BB962C8B-B14F-4D97-AF65-F5344CB8AC3E}">
        <p14:creationId xmlns:p14="http://schemas.microsoft.com/office/powerpoint/2010/main" val="3965778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282</Words>
  <Application>Microsoft Office PowerPoint</Application>
  <PresentationFormat>Widescreen</PresentationFormat>
  <Paragraphs>30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Amazon Product Data Visualization</vt:lpstr>
      <vt:lpstr>Product Category Distribution</vt:lpstr>
      <vt:lpstr>Product Rating Distribution</vt:lpstr>
      <vt:lpstr>Discount Percentage by Product Category</vt:lpstr>
      <vt:lpstr>Actual Price vs Discounted Price</vt:lpstr>
      <vt:lpstr>Discount Percentage vs Product Rating</vt:lpstr>
      <vt:lpstr>Distribution of Discounted Prices</vt:lpstr>
      <vt:lpstr>Product Category Contribution</vt:lpstr>
      <vt:lpstr>Relationships Across Product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kvasunthara15@outlook.com</dc:creator>
  <cp:lastModifiedBy>kvasunthara15@outlook.com</cp:lastModifiedBy>
  <cp:revision>7</cp:revision>
  <dcterms:created xsi:type="dcterms:W3CDTF">2026-09-12T09:12:50Z</dcterms:created>
  <dcterms:modified xsi:type="dcterms:W3CDTF">2026-09-13T17:16:03Z</dcterms:modified>
</cp:coreProperties>
</file>