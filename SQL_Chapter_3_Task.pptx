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9C06-F17E-0973-B388-A4C9D3771A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30167-67E9-8A3D-E50E-CC61262251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03A73-D8B5-E5FC-7D9D-B5D4F132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27D21-06E9-7B17-8826-460D1F09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7A1984-27DC-F7EE-DE05-C99FC9C8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82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A16F5-2560-C93C-C1B0-C83560287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210BC-AFF8-ED39-84BD-F691640FF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ECC49-8FDB-ACFE-13B5-36553AABE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A21B1-12A6-6F0E-1ACA-F7175994B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F5F3-3B9E-1ED7-B602-12B6D36F2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69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0383A-669E-09C6-E761-E54D42754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CDB8B8-AF42-15AA-88C5-E9DB764C8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1AA4E-E6B2-D179-84F5-6E97DC378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CE6FD-4558-FDA9-045A-1F78B5B0D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D0B32-9843-EF7C-3012-A9C17328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396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9FF14-96CE-934B-96B4-443C7312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8402A-61B6-CFEB-40ED-83702B5AD2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7BF23-5F22-2312-9418-DD608DDB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5C6EB-6FB4-E371-8241-F26EE62E2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08BCA4-FC87-5B09-90F5-38938C8FF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03BE56-A2EB-7A4D-4111-AA2BF3BDA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7788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94B7E-64CA-18A5-751F-6D40837D0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28829-EAED-97F4-EAD3-D0D8C10654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EE5E3-AE97-DB23-AA8A-2CF25FF85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2CB35-E8A3-ADF0-44C1-87E542144B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2FB0D1-24C9-A8CB-5187-CCDE385BAB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0D5DCD-5CDE-2AE4-CD06-AC97D64CC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D3D66-90AF-73D8-ECE8-B1A2EAD45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15FB4-0A66-1A32-9C1B-A540FC5FD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58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1BE21-5533-10E4-CB4C-38905F1D5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FADE29-BD86-6D92-81AB-1DCC7B033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68697D-759F-5A5A-666D-3A8DAB85F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9D5BC-4999-DA9C-3579-F0C929C4C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464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82D118-B6F1-BCBC-BA4B-4E1D42D45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8A36B-C5A8-8B9E-1762-3DD3C08F2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00EA1-3244-51CC-8B27-D10BBC93C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8312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58BA0-6426-5812-0AE0-06F3B040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0A258-872C-C3B9-F3D2-70C83F87C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3EA15-B716-460E-FE57-ECB13C1AE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07B9E6-7B61-9B3C-75D4-393E61C35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F7117-597D-E414-2791-5267267C2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BD480-CBE4-0790-0AF9-CFB83CF11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357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D718A-5A7B-2E4D-3AD1-55400C01E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595ED2-A7A1-31E5-8098-627ED9820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7D924-95AF-7FF0-D287-B90B10180B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1F9D9-BC62-B066-608B-000E8683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87B52-1EAC-018B-EFD2-569189E6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DC1F5-098B-93BD-32BB-39B9D6A37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6477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30467-2E32-83A2-C719-2F745A933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5BE09-DD63-C14B-57E9-EE3707D78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04C01-311B-D30C-ADD7-C6923A17A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2DA61-05E4-095D-F962-199E868B4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E7944-1DD4-686D-91C7-0664938A1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023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4C1DB5-6586-B242-EB4A-442EE4B23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7FB60-1F36-F78E-165B-744F7268A2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B5A94-8D28-BE86-2B0D-42B8681EE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ABB34-8083-B656-447D-190687EC3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263E-76CC-ABCE-74BF-5056840BE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78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734A26-978E-04F9-2D5A-2116914F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CFEC7-F9E9-8F27-5CB8-7417A44294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DB733-1A25-D549-632C-666EC0987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47927E-1E6B-448D-85F3-1CA2C09B8D3B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75FEE-44BA-9F68-24B1-6AD51220B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1D939-CDBD-11F8-1FB9-AE61972B1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3B735-9D7B-4C78-9CD1-B087185007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86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E921-BCA7-1CC3-55A3-3811802D1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838551"/>
          </a:xfrm>
        </p:spPr>
        <p:txBody>
          <a:bodyPr>
            <a:normAutofit fontScale="90000"/>
          </a:bodyPr>
          <a:lstStyle/>
          <a:p>
            <a:pPr algn="l"/>
            <a:r>
              <a:rPr lang="en-IN" sz="2200" b="1" dirty="0">
                <a:latin typeface="+mn-lt"/>
              </a:rPr>
              <a:t>1. Products with High Stock</a:t>
            </a:r>
            <a:br>
              <a:rPr lang="en-IN" sz="2200" b="1" dirty="0">
                <a:latin typeface="+mn-lt"/>
              </a:rPr>
            </a:br>
            <a:r>
              <a:rPr lang="en-IN" sz="2200" dirty="0">
                <a:latin typeface="+mn-lt"/>
              </a:rPr>
              <a:t>The inventory team wants to identify products that have more than 30 units in stock.</a:t>
            </a:r>
            <a:br>
              <a:rPr lang="en-IN" sz="2200" dirty="0">
                <a:latin typeface="+mn-lt"/>
              </a:rPr>
            </a:br>
            <a:r>
              <a:rPr lang="en-IN" sz="2200" b="1" dirty="0">
                <a:latin typeface="+mn-lt"/>
              </a:rPr>
              <a:t>Task:</a:t>
            </a:r>
            <a:r>
              <a:rPr lang="en-IN" sz="2200" dirty="0">
                <a:latin typeface="+mn-lt"/>
              </a:rPr>
              <a:t> Display </a:t>
            </a:r>
            <a:r>
              <a:rPr lang="en-IN" sz="2200" dirty="0" err="1">
                <a:latin typeface="+mn-lt"/>
              </a:rPr>
              <a:t>productCode</a:t>
            </a:r>
            <a:r>
              <a:rPr lang="en-IN" sz="2200" dirty="0">
                <a:latin typeface="+mn-lt"/>
              </a:rPr>
              <a:t>, </a:t>
            </a:r>
            <a:r>
              <a:rPr lang="en-IN" sz="2200" dirty="0" err="1">
                <a:latin typeface="+mn-lt"/>
              </a:rPr>
              <a:t>productName</a:t>
            </a:r>
            <a:r>
              <a:rPr lang="en-IN" sz="2200" dirty="0">
                <a:latin typeface="+mn-lt"/>
              </a:rPr>
              <a:t>, and </a:t>
            </a:r>
            <a:r>
              <a:rPr lang="en-IN" sz="2200" dirty="0" err="1">
                <a:latin typeface="+mn-lt"/>
              </a:rPr>
              <a:t>quantityInStock</a:t>
            </a:r>
            <a:r>
              <a:rPr lang="en-IN" sz="2200" dirty="0">
                <a:latin typeface="+mn-lt"/>
              </a:rPr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91D4A7-EA97-92A4-5802-D4D589274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8057" y="2459038"/>
            <a:ext cx="9144000" cy="1655762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productCode,productName,quantityInStock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products where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quantityInStock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&gt; 30;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07B6E3-E93F-3A31-36D5-1FF154EAD31C}"/>
              </a:ext>
            </a:extLst>
          </p:cNvPr>
          <p:cNvSpPr txBox="1"/>
          <p:nvPr/>
        </p:nvSpPr>
        <p:spPr>
          <a:xfrm>
            <a:off x="1524000" y="3516086"/>
            <a:ext cx="963385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2. Products with Low Stock</a:t>
            </a:r>
          </a:p>
          <a:p>
            <a:r>
              <a:rPr lang="en-IN" sz="2000" dirty="0"/>
              <a:t>The inventory team wants to identify products that have </a:t>
            </a:r>
            <a:r>
              <a:rPr lang="en-IN" sz="2000" b="1" dirty="0"/>
              <a:t>less than 35 units in stock</a:t>
            </a:r>
            <a:r>
              <a:rPr lang="en-IN" sz="2000" dirty="0"/>
              <a:t>.</a:t>
            </a:r>
          </a:p>
          <a:p>
            <a:r>
              <a:rPr lang="en-IN" sz="2000" b="1" dirty="0"/>
              <a:t>Task:</a:t>
            </a:r>
            <a:r>
              <a:rPr lang="en-IN" sz="2000" dirty="0"/>
              <a:t> Display all columns for those products.</a:t>
            </a:r>
          </a:p>
          <a:p>
            <a:endParaRPr lang="en-IN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E38AA-8E09-9988-5AAB-F4112C8B2A02}"/>
              </a:ext>
            </a:extLst>
          </p:cNvPr>
          <p:cNvSpPr txBox="1"/>
          <p:nvPr/>
        </p:nvSpPr>
        <p:spPr>
          <a:xfrm>
            <a:off x="1524000" y="4901081"/>
            <a:ext cx="8969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select *  from products where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quantityInStock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&lt; 35;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207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D8508-A0B0-7A64-8FD9-24BC0A6BA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sz="2200" dirty="0">
                <a:latin typeface="+mn-lt"/>
              </a:rPr>
              <a:t>3. Highest-Priced Products</a:t>
            </a:r>
            <a:br>
              <a:rPr lang="en-IN" sz="2200" dirty="0">
                <a:latin typeface="+mn-lt"/>
              </a:rPr>
            </a:br>
            <a:r>
              <a:rPr lang="en-IN" sz="2200" dirty="0">
                <a:latin typeface="+mn-lt"/>
              </a:rPr>
              <a:t>The pricing team wants to see the products with the highest MSRP.</a:t>
            </a:r>
            <a:br>
              <a:rPr lang="en-IN" sz="2200" dirty="0">
                <a:latin typeface="+mn-lt"/>
              </a:rPr>
            </a:br>
            <a:r>
              <a:rPr lang="en-IN" sz="2200" b="1" dirty="0">
                <a:latin typeface="+mn-lt"/>
              </a:rPr>
              <a:t>Task: </a:t>
            </a:r>
            <a:r>
              <a:rPr lang="en-IN" sz="2200" dirty="0">
                <a:latin typeface="+mn-lt"/>
              </a:rPr>
              <a:t>Display </a:t>
            </a:r>
            <a:r>
              <a:rPr lang="en-IN" sz="2200" dirty="0" err="1">
                <a:latin typeface="+mn-lt"/>
              </a:rPr>
              <a:t>productName</a:t>
            </a:r>
            <a:r>
              <a:rPr lang="en-IN" sz="2200" dirty="0">
                <a:latin typeface="+mn-lt"/>
              </a:rPr>
              <a:t>, </a:t>
            </a:r>
            <a:r>
              <a:rPr lang="en-IN" sz="2200" dirty="0" err="1">
                <a:latin typeface="+mn-lt"/>
              </a:rPr>
              <a:t>buyPrice</a:t>
            </a:r>
            <a:r>
              <a:rPr lang="en-IN" sz="2200" dirty="0">
                <a:latin typeface="+mn-lt"/>
              </a:rPr>
              <a:t>, and MSRP, sorted from highest MSRP lowest.</a:t>
            </a:r>
            <a:br>
              <a:rPr lang="en-IN" sz="2200" dirty="0"/>
            </a:br>
            <a:r>
              <a:rPr lang="en-IN" sz="2200" dirty="0">
                <a:latin typeface="+mn-lt"/>
              </a:rPr>
              <a:t>Then display only the top 3 products.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C4A33A-551E-ECF4-509E-2B8B75D24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456"/>
            <a:ext cx="10515600" cy="9906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select </a:t>
            </a:r>
            <a:r>
              <a:rPr lang="en-US" dirty="0" err="1"/>
              <a:t>productName,buyPrice,MSRP</a:t>
            </a:r>
            <a:r>
              <a:rPr lang="en-US" dirty="0"/>
              <a:t> from products order by MSRP desc limit 3;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F552E0-75BD-0574-00ED-056FFFCB650B}"/>
              </a:ext>
            </a:extLst>
          </p:cNvPr>
          <p:cNvSpPr txBox="1"/>
          <p:nvPr/>
        </p:nvSpPr>
        <p:spPr>
          <a:xfrm>
            <a:off x="838200" y="2960914"/>
            <a:ext cx="105156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4. Customers with High Credit Limits</a:t>
            </a:r>
          </a:p>
          <a:p>
            <a:r>
              <a:rPr lang="en-IN" sz="2000" dirty="0"/>
              <a:t>The finance team wants to identify customers whose </a:t>
            </a:r>
            <a:r>
              <a:rPr lang="en-IN" sz="2000" b="1" dirty="0"/>
              <a:t>credit limit is greater than ₹50,000</a:t>
            </a:r>
            <a:r>
              <a:rPr lang="en-IN" sz="2000" dirty="0"/>
              <a:t>.</a:t>
            </a:r>
          </a:p>
          <a:p>
            <a:r>
              <a:rPr lang="en-IN" sz="2000" b="1" dirty="0"/>
              <a:t>Task:</a:t>
            </a:r>
            <a:r>
              <a:rPr lang="en-IN" sz="2000" dirty="0"/>
              <a:t> Display </a:t>
            </a:r>
            <a:r>
              <a:rPr lang="en-IN" sz="2000" dirty="0" err="1"/>
              <a:t>customerNumber</a:t>
            </a:r>
            <a:r>
              <a:rPr lang="en-IN" sz="2000" dirty="0"/>
              <a:t>, </a:t>
            </a:r>
            <a:r>
              <a:rPr lang="en-IN" sz="2000" dirty="0" err="1"/>
              <a:t>customerName</a:t>
            </a:r>
            <a:r>
              <a:rPr lang="en-IN" sz="2000" dirty="0"/>
              <a:t>, and </a:t>
            </a:r>
            <a:r>
              <a:rPr lang="en-IN" sz="2000" dirty="0" err="1"/>
              <a:t>creditLimit</a:t>
            </a:r>
            <a:r>
              <a:rPr lang="en-IN" sz="2000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578D9E-DC12-EFFA-5C5B-155406B075F4}"/>
              </a:ext>
            </a:extLst>
          </p:cNvPr>
          <p:cNvSpPr txBox="1"/>
          <p:nvPr/>
        </p:nvSpPr>
        <p:spPr>
          <a:xfrm>
            <a:off x="838200" y="4177767"/>
            <a:ext cx="106027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customerNumber,customerName,creditLimit</a:t>
            </a:r>
            <a:r>
              <a:rPr lang="en-US" dirty="0"/>
              <a:t> from customers where </a:t>
            </a:r>
            <a:r>
              <a:rPr lang="en-US" dirty="0" err="1"/>
              <a:t>creditLimit</a:t>
            </a:r>
            <a:r>
              <a:rPr lang="en-US" dirty="0"/>
              <a:t> &gt; 50000;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84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45DEC0-9FAA-3CCC-F843-EFFF5F1DA8F3}"/>
              </a:ext>
            </a:extLst>
          </p:cNvPr>
          <p:cNvSpPr txBox="1"/>
          <p:nvPr/>
        </p:nvSpPr>
        <p:spPr>
          <a:xfrm>
            <a:off x="696686" y="391886"/>
            <a:ext cx="107115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5. Recent Orders</a:t>
            </a:r>
          </a:p>
          <a:p>
            <a:r>
              <a:rPr lang="en-IN" dirty="0"/>
              <a:t>The operations team wants to review the </a:t>
            </a:r>
            <a:r>
              <a:rPr lang="en-IN" b="1" dirty="0"/>
              <a:t>most recent orders</a:t>
            </a:r>
            <a:r>
              <a:rPr lang="en-IN" dirty="0"/>
              <a:t>.</a:t>
            </a:r>
          </a:p>
          <a:p>
            <a:r>
              <a:rPr lang="en-IN" b="1" dirty="0"/>
              <a:t>Task:</a:t>
            </a:r>
            <a:r>
              <a:rPr lang="en-IN" dirty="0"/>
              <a:t> Display </a:t>
            </a:r>
            <a:r>
              <a:rPr lang="en-IN" dirty="0" err="1"/>
              <a:t>orderNumber</a:t>
            </a:r>
            <a:r>
              <a:rPr lang="en-IN" dirty="0"/>
              <a:t>, </a:t>
            </a:r>
            <a:r>
              <a:rPr lang="en-IN" dirty="0" err="1"/>
              <a:t>orderDate</a:t>
            </a:r>
            <a:r>
              <a:rPr lang="en-IN" dirty="0"/>
              <a:t>, and status, sorted from </a:t>
            </a:r>
            <a:r>
              <a:rPr lang="en-IN" b="1" dirty="0"/>
              <a:t>newest order to oldest</a:t>
            </a:r>
            <a:r>
              <a:rPr lang="en-IN" dirty="0"/>
              <a:t>, and show only the </a:t>
            </a:r>
            <a:r>
              <a:rPr lang="en-IN" b="1" dirty="0"/>
              <a:t>3 most recent orders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C50CB8-8019-4370-1E85-87B0D9724DA9}"/>
              </a:ext>
            </a:extLst>
          </p:cNvPr>
          <p:cNvSpPr txBox="1"/>
          <p:nvPr/>
        </p:nvSpPr>
        <p:spPr>
          <a:xfrm>
            <a:off x="783771" y="1741714"/>
            <a:ext cx="1006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orderNumber,orderDate,shippedDate,status</a:t>
            </a:r>
            <a:r>
              <a:rPr lang="en-US" dirty="0"/>
              <a:t> from orders order by </a:t>
            </a:r>
            <a:r>
              <a:rPr lang="en-US" dirty="0" err="1"/>
              <a:t>orderDate</a:t>
            </a:r>
            <a:r>
              <a:rPr lang="en-US" dirty="0"/>
              <a:t> desc limit 3;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38054-C5A0-0186-EE65-6A652FC21E65}"/>
              </a:ext>
            </a:extLst>
          </p:cNvPr>
          <p:cNvSpPr txBox="1"/>
          <p:nvPr/>
        </p:nvSpPr>
        <p:spPr>
          <a:xfrm>
            <a:off x="783771" y="2427514"/>
            <a:ext cx="10297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6. Shipped Orders</a:t>
            </a:r>
          </a:p>
          <a:p>
            <a:r>
              <a:rPr lang="en-IN" dirty="0"/>
              <a:t>The operations team wants to review orders that have already been shipped.</a:t>
            </a:r>
          </a:p>
          <a:p>
            <a:r>
              <a:rPr lang="en-IN" b="1" dirty="0"/>
              <a:t>Task:</a:t>
            </a:r>
            <a:r>
              <a:rPr lang="en-IN" dirty="0"/>
              <a:t> Display the </a:t>
            </a:r>
            <a:r>
              <a:rPr lang="en-IN" dirty="0" err="1"/>
              <a:t>orderNumber</a:t>
            </a:r>
            <a:r>
              <a:rPr lang="en-IN" dirty="0"/>
              <a:t>, </a:t>
            </a:r>
            <a:r>
              <a:rPr lang="en-IN" dirty="0" err="1"/>
              <a:t>orderDate</a:t>
            </a:r>
            <a:r>
              <a:rPr lang="en-IN" dirty="0"/>
              <a:t>, </a:t>
            </a:r>
            <a:r>
              <a:rPr lang="en-IN" dirty="0" err="1"/>
              <a:t>shippedDate</a:t>
            </a:r>
            <a:r>
              <a:rPr lang="en-IN" dirty="0"/>
              <a:t>, and status for orders whose status is </a:t>
            </a:r>
            <a:r>
              <a:rPr lang="en-IN" b="1" dirty="0"/>
              <a:t>Shipped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E9FA80-0927-8807-AD28-61E20FBC255B}"/>
              </a:ext>
            </a:extLst>
          </p:cNvPr>
          <p:cNvSpPr txBox="1"/>
          <p:nvPr/>
        </p:nvSpPr>
        <p:spPr>
          <a:xfrm>
            <a:off x="881743" y="3627843"/>
            <a:ext cx="10297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orderNumber,orderDate,shippedDate,status</a:t>
            </a:r>
            <a:r>
              <a:rPr lang="en-US" dirty="0"/>
              <a:t> from orders where status = "Shipped";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802F6C-4B12-7E71-F5CB-893459DD6845}"/>
              </a:ext>
            </a:extLst>
          </p:cNvPr>
          <p:cNvSpPr txBox="1"/>
          <p:nvPr/>
        </p:nvSpPr>
        <p:spPr>
          <a:xfrm>
            <a:off x="881743" y="4408714"/>
            <a:ext cx="105264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7. Product Price Review</a:t>
            </a:r>
          </a:p>
          <a:p>
            <a:r>
              <a:rPr lang="en-IN" dirty="0"/>
              <a:t>The pricing team wants to review products where the </a:t>
            </a:r>
            <a:r>
              <a:rPr lang="en-IN" b="1" dirty="0"/>
              <a:t>buy price is below ₹30</a:t>
            </a:r>
            <a:r>
              <a:rPr lang="en-IN" dirty="0"/>
              <a:t>.</a:t>
            </a:r>
          </a:p>
          <a:p>
            <a:r>
              <a:rPr lang="en-IN" b="1" dirty="0"/>
              <a:t>Task:</a:t>
            </a:r>
            <a:r>
              <a:rPr lang="en-IN" dirty="0"/>
              <a:t> Display </a:t>
            </a:r>
            <a:r>
              <a:rPr lang="en-IN" dirty="0" err="1"/>
              <a:t>productCode</a:t>
            </a:r>
            <a:r>
              <a:rPr lang="en-IN" dirty="0"/>
              <a:t>, </a:t>
            </a:r>
            <a:r>
              <a:rPr lang="en-IN" dirty="0" err="1"/>
              <a:t>productName</a:t>
            </a:r>
            <a:r>
              <a:rPr lang="en-IN" dirty="0"/>
              <a:t>, </a:t>
            </a:r>
            <a:r>
              <a:rPr lang="en-IN" dirty="0" err="1"/>
              <a:t>buyPrice</a:t>
            </a:r>
            <a:r>
              <a:rPr lang="en-IN" dirty="0"/>
              <a:t>, and MSRP, sorted by </a:t>
            </a:r>
            <a:r>
              <a:rPr lang="en-IN" dirty="0" err="1"/>
              <a:t>buyPrice</a:t>
            </a:r>
            <a:r>
              <a:rPr lang="en-IN" dirty="0"/>
              <a:t> from </a:t>
            </a:r>
            <a:r>
              <a:rPr lang="en-IN" b="1" dirty="0"/>
              <a:t>lowest to highest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B1ECCB-6515-C8E6-BE31-BBA3AF7D8B1A}"/>
              </a:ext>
            </a:extLst>
          </p:cNvPr>
          <p:cNvSpPr txBox="1"/>
          <p:nvPr/>
        </p:nvSpPr>
        <p:spPr>
          <a:xfrm>
            <a:off x="979714" y="5609043"/>
            <a:ext cx="10624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select </a:t>
            </a:r>
            <a:r>
              <a:rPr lang="en-US" dirty="0" err="1"/>
              <a:t>productCode</a:t>
            </a:r>
            <a:r>
              <a:rPr lang="en-US" dirty="0"/>
              <a:t>, </a:t>
            </a:r>
            <a:r>
              <a:rPr lang="en-US" dirty="0" err="1"/>
              <a:t>productName</a:t>
            </a:r>
            <a:r>
              <a:rPr lang="en-US" dirty="0"/>
              <a:t>, </a:t>
            </a:r>
            <a:r>
              <a:rPr lang="en-US" dirty="0" err="1"/>
              <a:t>buyPrice,MSRP</a:t>
            </a:r>
            <a:r>
              <a:rPr lang="en-US" dirty="0"/>
              <a:t> from products where </a:t>
            </a:r>
            <a:r>
              <a:rPr lang="en-US" dirty="0" err="1"/>
              <a:t>buyPrice</a:t>
            </a:r>
            <a:r>
              <a:rPr lang="en-US" dirty="0"/>
              <a:t> &lt; 30 order by </a:t>
            </a:r>
            <a:r>
              <a:rPr lang="en-US" dirty="0" err="1"/>
              <a:t>buyPrice</a:t>
            </a:r>
            <a:r>
              <a:rPr lang="en-US" dirty="0"/>
              <a:t>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1295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6FA4E0-98A6-8B83-12CD-1E5BCE0B8656}"/>
              </a:ext>
            </a:extLst>
          </p:cNvPr>
          <p:cNvSpPr txBox="1"/>
          <p:nvPr/>
        </p:nvSpPr>
        <p:spPr>
          <a:xfrm>
            <a:off x="391886" y="326571"/>
            <a:ext cx="11451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8. Update Inventory</a:t>
            </a:r>
          </a:p>
          <a:p>
            <a:r>
              <a:rPr lang="en-IN" dirty="0"/>
              <a:t>The inventory team received </a:t>
            </a:r>
            <a:r>
              <a:rPr lang="en-IN" b="1" dirty="0"/>
              <a:t>10 additional units</a:t>
            </a:r>
            <a:r>
              <a:rPr lang="en-IN" dirty="0"/>
              <a:t> of product P001.</a:t>
            </a:r>
          </a:p>
          <a:p>
            <a:r>
              <a:rPr lang="en-IN" b="1" dirty="0"/>
              <a:t>Task:</a:t>
            </a:r>
            <a:r>
              <a:rPr lang="en-IN" dirty="0"/>
              <a:t> Update the inventory so that the </a:t>
            </a:r>
            <a:r>
              <a:rPr lang="en-IN" dirty="0" err="1"/>
              <a:t>quantityInStock</a:t>
            </a:r>
            <a:r>
              <a:rPr lang="en-IN" dirty="0"/>
              <a:t> of P001 increases by 10.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3ABD3-B0CC-5C78-E6EC-9EFB16132B47}"/>
              </a:ext>
            </a:extLst>
          </p:cNvPr>
          <p:cNvSpPr txBox="1"/>
          <p:nvPr/>
        </p:nvSpPr>
        <p:spPr>
          <a:xfrm>
            <a:off x="500743" y="2024743"/>
            <a:ext cx="103740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9. Add a New Column</a:t>
            </a:r>
          </a:p>
          <a:p>
            <a:r>
              <a:rPr lang="en-IN" dirty="0"/>
              <a:t>The product management team wants to record whether a product is currently </a:t>
            </a:r>
            <a:r>
              <a:rPr lang="en-IN" b="1" dirty="0"/>
              <a:t>active or discontinued</a:t>
            </a:r>
            <a:r>
              <a:rPr lang="en-IN" dirty="0"/>
              <a:t>.</a:t>
            </a:r>
          </a:p>
          <a:p>
            <a:r>
              <a:rPr lang="en-IN" b="1" dirty="0"/>
              <a:t>Task:</a:t>
            </a:r>
            <a:r>
              <a:rPr lang="en-IN" dirty="0"/>
              <a:t> Alter the products table to add a column called </a:t>
            </a:r>
            <a:r>
              <a:rPr lang="en-IN" dirty="0" err="1"/>
              <a:t>productStatus</a:t>
            </a:r>
            <a:r>
              <a:rPr lang="en-IN" dirty="0"/>
              <a:t> that can store values.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EEA79-4C93-A2A1-7D65-F4D5F5BC8068}"/>
              </a:ext>
            </a:extLst>
          </p:cNvPr>
          <p:cNvSpPr txBox="1"/>
          <p:nvPr/>
        </p:nvSpPr>
        <p:spPr>
          <a:xfrm>
            <a:off x="631371" y="3156857"/>
            <a:ext cx="10167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alter table products add (</a:t>
            </a:r>
            <a:r>
              <a:rPr lang="en-US" dirty="0" err="1"/>
              <a:t>productStatus</a:t>
            </a:r>
            <a:r>
              <a:rPr lang="en-US" dirty="0"/>
              <a:t> varchar(50));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AED41-524C-4629-D9A0-1AA199990074}"/>
              </a:ext>
            </a:extLst>
          </p:cNvPr>
          <p:cNvSpPr txBox="1"/>
          <p:nvPr/>
        </p:nvSpPr>
        <p:spPr>
          <a:xfrm>
            <a:off x="631371" y="3820886"/>
            <a:ext cx="98842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10. Update Product Status</a:t>
            </a:r>
          </a:p>
          <a:p>
            <a:r>
              <a:rPr lang="en-IN" dirty="0"/>
              <a:t>After reviewing the product </a:t>
            </a:r>
            <a:r>
              <a:rPr lang="en-IN" dirty="0" err="1"/>
              <a:t>catalog</a:t>
            </a:r>
            <a:r>
              <a:rPr lang="en-IN" dirty="0"/>
              <a:t>, the product management team has decided that product P005 is </a:t>
            </a:r>
            <a:r>
              <a:rPr lang="en-IN" b="1" dirty="0"/>
              <a:t>Discontinued</a:t>
            </a:r>
            <a:r>
              <a:rPr lang="en-IN" dirty="0"/>
              <a:t>.</a:t>
            </a:r>
          </a:p>
          <a:p>
            <a:r>
              <a:rPr lang="en-IN" b="1" dirty="0"/>
              <a:t>Task:</a:t>
            </a:r>
            <a:r>
              <a:rPr lang="en-IN" dirty="0"/>
              <a:t> Update the </a:t>
            </a:r>
            <a:r>
              <a:rPr lang="en-IN" dirty="0" err="1"/>
              <a:t>productStatus</a:t>
            </a:r>
            <a:r>
              <a:rPr lang="en-IN" dirty="0"/>
              <a:t> of P005.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4EA05C-BD4E-88F9-BF07-A411CEC03604}"/>
              </a:ext>
            </a:extLst>
          </p:cNvPr>
          <p:cNvSpPr txBox="1"/>
          <p:nvPr/>
        </p:nvSpPr>
        <p:spPr>
          <a:xfrm>
            <a:off x="631371" y="5127171"/>
            <a:ext cx="9644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products set </a:t>
            </a:r>
            <a:r>
              <a:rPr lang="en-US" dirty="0" err="1"/>
              <a:t>productStatus</a:t>
            </a:r>
            <a:r>
              <a:rPr lang="en-US" dirty="0"/>
              <a:t> = "Discontinued" where </a:t>
            </a:r>
            <a:r>
              <a:rPr lang="en-US" dirty="0" err="1"/>
              <a:t>productCode</a:t>
            </a:r>
            <a:r>
              <a:rPr lang="en-US" dirty="0"/>
              <a:t> = "p005";</a:t>
            </a:r>
          </a:p>
          <a:p>
            <a:r>
              <a:rPr lang="en-US" dirty="0"/>
              <a:t>update products set </a:t>
            </a:r>
            <a:r>
              <a:rPr lang="en-US" dirty="0" err="1"/>
              <a:t>productStatus</a:t>
            </a:r>
            <a:r>
              <a:rPr lang="en-US" dirty="0"/>
              <a:t> = "Active" where </a:t>
            </a:r>
            <a:r>
              <a:rPr lang="en-US" dirty="0" err="1"/>
              <a:t>productCode</a:t>
            </a:r>
            <a:r>
              <a:rPr lang="en-US" dirty="0"/>
              <a:t> != "p005"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DDBDEC-C29D-3D32-7409-49A2DAFEF0EC}"/>
              </a:ext>
            </a:extLst>
          </p:cNvPr>
          <p:cNvSpPr txBox="1"/>
          <p:nvPr/>
        </p:nvSpPr>
        <p:spPr>
          <a:xfrm>
            <a:off x="500743" y="1458686"/>
            <a:ext cx="9263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 products set </a:t>
            </a:r>
            <a:r>
              <a:rPr lang="en-US" dirty="0" err="1"/>
              <a:t>quantityInStock</a:t>
            </a:r>
            <a:r>
              <a:rPr lang="en-US" dirty="0"/>
              <a:t> = quantityInStock+10 where </a:t>
            </a:r>
            <a:r>
              <a:rPr lang="en-US" dirty="0" err="1"/>
              <a:t>productCode</a:t>
            </a:r>
            <a:r>
              <a:rPr lang="en-US" dirty="0"/>
              <a:t> = "p001";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756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515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1. Products with High Stock The inventory team wants to identify products that have more than 30 units in stock. Task: Display productCode, productName, and quantityInStock. </vt:lpstr>
      <vt:lpstr>3. Highest-Priced Products The pricing team wants to see the products with the highest MSRP. Task: Display productName, buyPrice, and MSRP, sorted from highest MSRP lowest. Then display only the top 3 products.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Vasunthara K</dc:creator>
  <cp:lastModifiedBy>Vasunthara K</cp:lastModifiedBy>
  <cp:revision>2</cp:revision>
  <dcterms:created xsi:type="dcterms:W3CDTF">2026-09-23T14:04:39Z</dcterms:created>
  <dcterms:modified xsi:type="dcterms:W3CDTF">2026-09-24T03:06:44Z</dcterms:modified>
</cp:coreProperties>
</file>