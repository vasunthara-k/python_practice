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2190A-E7A1-CD4F-DF9B-AA3CB6D75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51B79B-C679-B7D0-AA9B-DF3AB756F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507F6-E74C-E1CF-2A27-49C280B8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6A637-F1E5-4899-A798-C74FEC86C7F1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EDAC3-26AE-0144-674F-03DED19F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BF5C-FBE2-01B9-FFC1-E1700BDA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1704-206B-4855-A54F-6F8C3C15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80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FCB8A-7CE3-E7BC-33DA-9569C753F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B9BE4-1A11-C0C9-7B36-24D89A0BA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417B0-02D5-99CC-7CA2-E1071291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6A637-F1E5-4899-A798-C74FEC86C7F1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1F490-93AB-CDA3-91E8-05E7CFF96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4B459-AAB7-B53C-DCD6-276246CE8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1704-206B-4855-A54F-6F8C3C15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2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9BB93-9B1E-7784-7BA3-B33599BD2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2AFD1-4927-1C71-95C4-9C08AAA28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68B4A-D29A-2D2D-D52F-662340571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6A637-F1E5-4899-A798-C74FEC86C7F1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CD41C-AB3C-644C-9AAF-0BCC788F4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A788-4D38-A4D4-C60F-EFC485A4A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1704-206B-4855-A54F-6F8C3C15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653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F94AD-D240-3050-8BA9-9EF547BDE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63A5C-32C7-11D9-0144-7F26D4A59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ED816-6F5E-D6EF-CCCB-4723B327B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ED576-A114-86D6-92C3-2FDC6E038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6A637-F1E5-4899-A798-C74FEC86C7F1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D4B5E-A8E3-FABB-8D5D-A199DF30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62305-6CFE-2649-57C9-792AAC00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1704-206B-4855-A54F-6F8C3C15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70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8DF5-E2C8-A89A-56F1-891D6CF71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3D09B-B045-1804-75AA-F8510FB19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B0C8D-D6A6-753A-F7F7-154E3018A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B8890C-8C94-0D1A-E671-C4F01FD6F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6B09C7-CEC1-BEBB-5164-8D325F36DA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EE3E8A-439E-E48C-8ACC-1E5962D2E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6A637-F1E5-4899-A798-C74FEC86C7F1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4C5C58-1DD3-8462-FF6D-E27199FCA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0882D9-A475-7342-E573-9F99D09F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1704-206B-4855-A54F-6F8C3C15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171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03D11-8B1C-0B5F-7FBA-98A327B7C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AFA0DE-FC8D-E766-E902-42F4608BD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6A637-F1E5-4899-A798-C74FEC86C7F1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B4ADD-2C4E-0D9D-B22F-7DC0D89C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CCB4C-E503-6429-4AC8-E4E6AFE74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1704-206B-4855-A54F-6F8C3C15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51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BC965-1876-B0C9-6EDE-75F7127E7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6A637-F1E5-4899-A798-C74FEC86C7F1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26D259-553D-C4DB-71BC-4A5735BC3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B1A2C-9FAC-EDD6-AE6E-195359832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1704-206B-4855-A54F-6F8C3C15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875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AC9AE-708B-888A-EAAB-31844E38D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B5893-6D94-B880-F16D-30B39E4C0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FAC5D-C85A-A644-F1F9-269EB4DF8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FE79D-67EA-FAF3-8FF8-ECB2EF2E6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6A637-F1E5-4899-A798-C74FEC86C7F1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C555C-3AA0-DBA1-CD76-AD07A6195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45131-D36F-3E0D-16CC-DEA4B5F0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1704-206B-4855-A54F-6F8C3C15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83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F312A-6076-DAF9-8BEA-247DCDC6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38995-BBD9-3872-C05F-731FA320C2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E63B2-8697-37A6-685A-9A3F7EAD0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AF41C-DFD5-09F7-2583-A1151D113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6A637-F1E5-4899-A798-C74FEC86C7F1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5863F-F66F-10D7-012C-1810C36AD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EE05A-77CE-8662-4F40-327AB3F63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1704-206B-4855-A54F-6F8C3C15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15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1E26-83C3-AD78-15C8-5F3DE844B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C98D36-371B-C9D9-E6F5-FFD0AA6D7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BE330-8C80-60FF-0021-234FA3BB3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6A637-F1E5-4899-A798-C74FEC86C7F1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5A4F9-2989-E8CB-4C62-1F4157B8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00F9A-2329-2F16-2153-C5E360F2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1704-206B-4855-A54F-6F8C3C15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078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2A1C6C-5452-3D48-6E7E-CE01F34085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9CDF3-A467-6A45-178B-A3085E65B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9B743-B02A-65C4-2830-A02A757BB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6A637-F1E5-4899-A798-C74FEC86C7F1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833B0-E0B3-D262-6AE4-BA61C657B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C156B-001E-43FF-3640-E11C22DF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1704-206B-4855-A54F-6F8C3C15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53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03AF6D-5476-13EC-56DB-5A242B7C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157B3-8829-9864-95CA-4F8D2B4D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69B73-38A9-F21B-B4F4-45201CD33B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6A637-F1E5-4899-A798-C74FEC86C7F1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6397D-5F4C-D472-4DF3-57B5FFA6F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DD74A-FED0-5A0A-2C93-26B1AD070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11704-206B-4855-A54F-6F8C3C150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359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75C79F-F53F-55E1-9DF9-E0790CEE1272}"/>
              </a:ext>
            </a:extLst>
          </p:cNvPr>
          <p:cNvSpPr txBox="1"/>
          <p:nvPr/>
        </p:nvSpPr>
        <p:spPr>
          <a:xfrm>
            <a:off x="402772" y="206826"/>
            <a:ext cx="4288971" cy="5334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2400" b="1" dirty="0"/>
              <a:t>Task 1 — Aggregate Functions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CC45E6-E2A6-98D2-8B02-EDEA522D6C73}"/>
              </a:ext>
            </a:extLst>
          </p:cNvPr>
          <p:cNvSpPr txBox="1"/>
          <p:nvPr/>
        </p:nvSpPr>
        <p:spPr>
          <a:xfrm>
            <a:off x="402772" y="936171"/>
            <a:ext cx="11625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Problem 1 — Total Inventory</a:t>
            </a:r>
          </a:p>
          <a:p>
            <a:r>
              <a:rPr lang="en-IN"/>
              <a:t>The inventory team wants to know the </a:t>
            </a:r>
            <a:r>
              <a:rPr lang="en-IN" b="1"/>
              <a:t>total number of products currently available across all product records</a:t>
            </a:r>
            <a:r>
              <a:rPr lang="en-IN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72B67-E42F-128D-8168-C4D0D09D4BEE}"/>
              </a:ext>
            </a:extLst>
          </p:cNvPr>
          <p:cNvSpPr txBox="1"/>
          <p:nvPr/>
        </p:nvSpPr>
        <p:spPr>
          <a:xfrm>
            <a:off x="511629" y="1682430"/>
            <a:ext cx="1010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select sum(quantityInStock) as Total_Products from products;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EFD1B-0E4C-618E-DECA-C558E9E769CC}"/>
              </a:ext>
            </a:extLst>
          </p:cNvPr>
          <p:cNvSpPr txBox="1"/>
          <p:nvPr/>
        </p:nvSpPr>
        <p:spPr>
          <a:xfrm>
            <a:off x="424543" y="2416629"/>
            <a:ext cx="10580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2 — Average Product Price</a:t>
            </a:r>
          </a:p>
          <a:p>
            <a:r>
              <a:rPr lang="en-IN" dirty="0"/>
              <a:t>The pricing team wants to understand the </a:t>
            </a:r>
            <a:r>
              <a:rPr lang="en-IN" b="1" dirty="0"/>
              <a:t>average buying price of the products</a:t>
            </a:r>
            <a:r>
              <a:rPr lang="en-IN" dirty="0"/>
              <a:t> in the </a:t>
            </a:r>
            <a:r>
              <a:rPr lang="en-IN" dirty="0" err="1"/>
              <a:t>catalog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705890-BE65-FA89-BAE3-5C6A489D6E59}"/>
              </a:ext>
            </a:extLst>
          </p:cNvPr>
          <p:cNvSpPr txBox="1"/>
          <p:nvPr/>
        </p:nvSpPr>
        <p:spPr>
          <a:xfrm>
            <a:off x="511629" y="3339959"/>
            <a:ext cx="547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avg(</a:t>
            </a:r>
            <a:r>
              <a:rPr lang="en-US" dirty="0" err="1"/>
              <a:t>buyPrice</a:t>
            </a:r>
            <a:r>
              <a:rPr lang="en-US" dirty="0"/>
              <a:t>) as </a:t>
            </a:r>
            <a:r>
              <a:rPr lang="en-US" dirty="0" err="1"/>
              <a:t>average_buyprice</a:t>
            </a:r>
            <a:r>
              <a:rPr lang="en-US" dirty="0"/>
              <a:t> from products;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E6CFBF-0B38-6534-1722-5AC60D82B02B}"/>
              </a:ext>
            </a:extLst>
          </p:cNvPr>
          <p:cNvSpPr txBox="1"/>
          <p:nvPr/>
        </p:nvSpPr>
        <p:spPr>
          <a:xfrm>
            <a:off x="402772" y="3962400"/>
            <a:ext cx="9000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3 — Product Price Range</a:t>
            </a:r>
          </a:p>
          <a:p>
            <a:r>
              <a:rPr lang="en-IN" dirty="0"/>
              <a:t>The pricing team wants to understand the </a:t>
            </a:r>
            <a:r>
              <a:rPr lang="en-IN" b="1" dirty="0"/>
              <a:t>price range</a:t>
            </a:r>
            <a:r>
              <a:rPr lang="en-IN" dirty="0"/>
              <a:t> of the products currently in the </a:t>
            </a:r>
            <a:r>
              <a:rPr lang="en-IN" dirty="0" err="1"/>
              <a:t>catalog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5F9B2-1334-1C15-6CD3-FC54750A9C3E}"/>
              </a:ext>
            </a:extLst>
          </p:cNvPr>
          <p:cNvSpPr txBox="1"/>
          <p:nvPr/>
        </p:nvSpPr>
        <p:spPr>
          <a:xfrm>
            <a:off x="511629" y="4954173"/>
            <a:ext cx="7535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min(</a:t>
            </a:r>
            <a:r>
              <a:rPr lang="en-US" dirty="0" err="1"/>
              <a:t>buyPrice</a:t>
            </a:r>
            <a:r>
              <a:rPr lang="en-US" dirty="0"/>
              <a:t>) as </a:t>
            </a:r>
            <a:r>
              <a:rPr lang="en-US" dirty="0" err="1"/>
              <a:t>min_price</a:t>
            </a:r>
            <a:r>
              <a:rPr lang="en-US" dirty="0"/>
              <a:t>, max(</a:t>
            </a:r>
            <a:r>
              <a:rPr lang="en-US" dirty="0" err="1"/>
              <a:t>buyPrice</a:t>
            </a:r>
            <a:r>
              <a:rPr lang="en-US" dirty="0"/>
              <a:t>) as </a:t>
            </a:r>
            <a:r>
              <a:rPr lang="en-US" dirty="0" err="1"/>
              <a:t>max_price</a:t>
            </a:r>
            <a:r>
              <a:rPr lang="en-US" dirty="0"/>
              <a:t> from products;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6711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50A9E4-6CFF-71AF-FBAC-87E5F76F42CA}"/>
              </a:ext>
            </a:extLst>
          </p:cNvPr>
          <p:cNvSpPr txBox="1"/>
          <p:nvPr/>
        </p:nvSpPr>
        <p:spPr>
          <a:xfrm>
            <a:off x="152395" y="311093"/>
            <a:ext cx="5682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Task 2 — Aggregate Functions with </a:t>
            </a:r>
            <a:r>
              <a:rPr lang="en-IN" sz="2400" b="1" dirty="0">
                <a:latin typeface="+mn-lt"/>
              </a:rPr>
              <a:t>WHERE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27DBFD-A3C0-1F7A-7B71-BA6247777326}"/>
              </a:ext>
            </a:extLst>
          </p:cNvPr>
          <p:cNvSpPr txBox="1"/>
          <p:nvPr/>
        </p:nvSpPr>
        <p:spPr>
          <a:xfrm>
            <a:off x="152395" y="968829"/>
            <a:ext cx="121505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 1 — Total Customer Credit Exposure</a:t>
            </a:r>
          </a:p>
          <a:p>
            <a:r>
              <a:rPr lang="en-IN" dirty="0"/>
              <a:t>The finance team wants to know the </a:t>
            </a:r>
            <a:r>
              <a:rPr lang="en-IN" b="1" dirty="0"/>
              <a:t>total credit limit</a:t>
            </a:r>
            <a:r>
              <a:rPr lang="en-IN" dirty="0"/>
              <a:t> currently offered to customers whose credit limit is </a:t>
            </a:r>
            <a:r>
              <a:rPr lang="en-IN" b="1" dirty="0"/>
              <a:t>greater than ₹50,000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6757C-DDA7-2141-6D1D-09AE0C3ED1DD}"/>
              </a:ext>
            </a:extLst>
          </p:cNvPr>
          <p:cNvSpPr txBox="1"/>
          <p:nvPr/>
        </p:nvSpPr>
        <p:spPr>
          <a:xfrm>
            <a:off x="152395" y="1892159"/>
            <a:ext cx="8268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sum(</a:t>
            </a:r>
            <a:r>
              <a:rPr lang="en-US" dirty="0" err="1"/>
              <a:t>creditLimit</a:t>
            </a:r>
            <a:r>
              <a:rPr lang="en-US" dirty="0"/>
              <a:t>) as </a:t>
            </a:r>
            <a:r>
              <a:rPr lang="en-US" dirty="0" err="1"/>
              <a:t>Total_creditlimit</a:t>
            </a:r>
            <a:r>
              <a:rPr lang="en-US" dirty="0"/>
              <a:t> from customers where </a:t>
            </a:r>
            <a:r>
              <a:rPr lang="en-US" dirty="0" err="1"/>
              <a:t>creditLimit</a:t>
            </a:r>
            <a:r>
              <a:rPr lang="en-US" dirty="0"/>
              <a:t> &gt; 50000;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4E120-0EE8-1A31-E547-3B19A97F81DC}"/>
              </a:ext>
            </a:extLst>
          </p:cNvPr>
          <p:cNvSpPr txBox="1"/>
          <p:nvPr/>
        </p:nvSpPr>
        <p:spPr>
          <a:xfrm>
            <a:off x="152395" y="2505670"/>
            <a:ext cx="74621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 2 — Number of Shipped Orders</a:t>
            </a:r>
          </a:p>
          <a:p>
            <a:r>
              <a:rPr lang="en-IN" dirty="0"/>
              <a:t>The operations team wants to know how many orders have already been </a:t>
            </a:r>
            <a:r>
              <a:rPr lang="en-IN" b="1" dirty="0"/>
              <a:t>ship</a:t>
            </a:r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FF675C-1767-2FEE-BA63-CB3B9E9DA957}"/>
              </a:ext>
            </a:extLst>
          </p:cNvPr>
          <p:cNvSpPr txBox="1"/>
          <p:nvPr/>
        </p:nvSpPr>
        <p:spPr>
          <a:xfrm>
            <a:off x="152395" y="3429000"/>
            <a:ext cx="7793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count(*) as </a:t>
            </a:r>
            <a:r>
              <a:rPr lang="en-US" dirty="0" err="1"/>
              <a:t>numberofshipped_orders</a:t>
            </a:r>
            <a:r>
              <a:rPr lang="en-US" dirty="0"/>
              <a:t> from orders where status ='Shipped';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C35B5C-2B91-6616-3868-5E1AE8F2223A}"/>
              </a:ext>
            </a:extLst>
          </p:cNvPr>
          <p:cNvSpPr txBox="1"/>
          <p:nvPr/>
        </p:nvSpPr>
        <p:spPr>
          <a:xfrm>
            <a:off x="152395" y="4042511"/>
            <a:ext cx="98692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 3 — Average Payment from Selected Customers</a:t>
            </a:r>
          </a:p>
          <a:p>
            <a:r>
              <a:rPr lang="en-IN" dirty="0"/>
              <a:t>The finance team wants to </a:t>
            </a:r>
            <a:r>
              <a:rPr lang="en-IN" dirty="0" err="1"/>
              <a:t>analyze</a:t>
            </a:r>
            <a:r>
              <a:rPr lang="en-IN" dirty="0"/>
              <a:t> payments of customers who made a payment </a:t>
            </a:r>
            <a:r>
              <a:rPr lang="en-IN" b="1" dirty="0"/>
              <a:t>greater than ₹25,000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B3204B-E2D3-9BE0-E04B-16205764CBB1}"/>
              </a:ext>
            </a:extLst>
          </p:cNvPr>
          <p:cNvSpPr txBox="1"/>
          <p:nvPr/>
        </p:nvSpPr>
        <p:spPr>
          <a:xfrm>
            <a:off x="152395" y="5025354"/>
            <a:ext cx="6466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round(avg(amount)) from payments where amount &gt; 25000;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7378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5B9F56-3434-D481-6636-67F413D1CF1A}"/>
              </a:ext>
            </a:extLst>
          </p:cNvPr>
          <p:cNvSpPr txBox="1"/>
          <p:nvPr/>
        </p:nvSpPr>
        <p:spPr>
          <a:xfrm>
            <a:off x="206828" y="119742"/>
            <a:ext cx="6018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Task 3 — Aggregate Functions with GROUP BY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914599-4C89-6902-F6F3-4DCE3E77B1EF}"/>
              </a:ext>
            </a:extLst>
          </p:cNvPr>
          <p:cNvSpPr txBox="1"/>
          <p:nvPr/>
        </p:nvSpPr>
        <p:spPr>
          <a:xfrm>
            <a:off x="402771" y="914400"/>
            <a:ext cx="91441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 1 — Customers by Country</a:t>
            </a:r>
          </a:p>
          <a:p>
            <a:r>
              <a:rPr lang="en-IN" dirty="0"/>
              <a:t>The business team wants to understand how many customers are registered from each country.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1A64A-2A53-4EE7-BA2E-EB52B00BCEE1}"/>
              </a:ext>
            </a:extLst>
          </p:cNvPr>
          <p:cNvSpPr txBox="1"/>
          <p:nvPr/>
        </p:nvSpPr>
        <p:spPr>
          <a:xfrm>
            <a:off x="402771" y="1801391"/>
            <a:ext cx="8133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country,count</a:t>
            </a:r>
            <a:r>
              <a:rPr lang="en-US" dirty="0"/>
              <a:t>(*) as </a:t>
            </a:r>
            <a:r>
              <a:rPr lang="en-US" dirty="0" err="1"/>
              <a:t>customers_per_country</a:t>
            </a:r>
            <a:r>
              <a:rPr lang="en-US" dirty="0"/>
              <a:t> from customers group by country;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139B0-6347-F861-2DCD-C5FF9C35F00F}"/>
              </a:ext>
            </a:extLst>
          </p:cNvPr>
          <p:cNvSpPr txBox="1"/>
          <p:nvPr/>
        </p:nvSpPr>
        <p:spPr>
          <a:xfrm>
            <a:off x="402771" y="2505670"/>
            <a:ext cx="93475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 2 — Orders by Status</a:t>
            </a:r>
          </a:p>
          <a:p>
            <a:r>
              <a:rPr lang="en-IN" dirty="0"/>
              <a:t>The operations team wants to understand the distribution of orders based on their current status.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45139-6D34-0513-16F4-32BB700535FC}"/>
              </a:ext>
            </a:extLst>
          </p:cNvPr>
          <p:cNvSpPr txBox="1"/>
          <p:nvPr/>
        </p:nvSpPr>
        <p:spPr>
          <a:xfrm>
            <a:off x="402771" y="3394615"/>
            <a:ext cx="642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status,count</a:t>
            </a:r>
            <a:r>
              <a:rPr lang="en-US" dirty="0"/>
              <a:t>(*) as </a:t>
            </a:r>
            <a:r>
              <a:rPr lang="en-US" dirty="0" err="1"/>
              <a:t>status_count</a:t>
            </a:r>
            <a:r>
              <a:rPr lang="en-US" dirty="0"/>
              <a:t> from orders group by status;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71124B-9500-72AF-9ECA-3543A7A9B46E}"/>
              </a:ext>
            </a:extLst>
          </p:cNvPr>
          <p:cNvSpPr txBox="1"/>
          <p:nvPr/>
        </p:nvSpPr>
        <p:spPr>
          <a:xfrm>
            <a:off x="402771" y="4096940"/>
            <a:ext cx="87002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 3 — Average Product Price by Product Line</a:t>
            </a:r>
          </a:p>
          <a:p>
            <a:r>
              <a:rPr lang="en-IN" dirty="0"/>
              <a:t>The pricing team wants to compare the average buying price across different product lines.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7E4B4F-C2BE-A320-BBE3-680ADD0FF966}"/>
              </a:ext>
            </a:extLst>
          </p:cNvPr>
          <p:cNvSpPr txBox="1"/>
          <p:nvPr/>
        </p:nvSpPr>
        <p:spPr>
          <a:xfrm>
            <a:off x="402771" y="5168597"/>
            <a:ext cx="9478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productLine</a:t>
            </a:r>
            <a:r>
              <a:rPr lang="en-US" dirty="0"/>
              <a:t>, round(avg(</a:t>
            </a:r>
            <a:r>
              <a:rPr lang="en-US" dirty="0" err="1"/>
              <a:t>buyPrice</a:t>
            </a:r>
            <a:r>
              <a:rPr lang="en-US" dirty="0"/>
              <a:t>)) as </a:t>
            </a:r>
            <a:r>
              <a:rPr lang="en-US" dirty="0" err="1"/>
              <a:t>average_buyprice</a:t>
            </a:r>
            <a:r>
              <a:rPr lang="en-US" dirty="0"/>
              <a:t> from products group by </a:t>
            </a:r>
            <a:r>
              <a:rPr lang="en-US" dirty="0" err="1"/>
              <a:t>productLine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179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5F879-7557-9C73-0B86-90BC4AE06307}"/>
              </a:ext>
            </a:extLst>
          </p:cNvPr>
          <p:cNvSpPr txBox="1"/>
          <p:nvPr/>
        </p:nvSpPr>
        <p:spPr>
          <a:xfrm>
            <a:off x="446314" y="261257"/>
            <a:ext cx="2803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Task 4 — Subqueries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640CF4-551D-1FB0-E90A-63A3C2A732C0}"/>
              </a:ext>
            </a:extLst>
          </p:cNvPr>
          <p:cNvSpPr txBox="1"/>
          <p:nvPr/>
        </p:nvSpPr>
        <p:spPr>
          <a:xfrm>
            <a:off x="446314" y="957942"/>
            <a:ext cx="108147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 — Products Above Average Price</a:t>
            </a:r>
          </a:p>
          <a:p>
            <a:r>
              <a:rPr lang="en-IN" dirty="0"/>
              <a:t>The pricing team wants to identify products whose </a:t>
            </a:r>
            <a:r>
              <a:rPr lang="en-IN" b="1" dirty="0"/>
              <a:t>buy price is higher than the average buy price of all products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F97F6-2930-FAE6-0461-B903AA975B65}"/>
              </a:ext>
            </a:extLst>
          </p:cNvPr>
          <p:cNvSpPr txBox="1"/>
          <p:nvPr/>
        </p:nvSpPr>
        <p:spPr>
          <a:xfrm>
            <a:off x="446314" y="2116292"/>
            <a:ext cx="11476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productName,productLine,buyprice,MSRP</a:t>
            </a:r>
            <a:r>
              <a:rPr lang="en-US" dirty="0"/>
              <a:t> from products where </a:t>
            </a:r>
            <a:r>
              <a:rPr lang="en-US" dirty="0" err="1"/>
              <a:t>buyPrice</a:t>
            </a:r>
            <a:r>
              <a:rPr lang="en-US" dirty="0"/>
              <a:t> &gt; (select avg(</a:t>
            </a:r>
            <a:r>
              <a:rPr lang="en-US" dirty="0" err="1"/>
              <a:t>buyPrice</a:t>
            </a:r>
            <a:r>
              <a:rPr lang="en-US" dirty="0"/>
              <a:t>) from products);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85746B-1C2A-7B0B-360C-7D9192782C96}"/>
              </a:ext>
            </a:extLst>
          </p:cNvPr>
          <p:cNvSpPr txBox="1"/>
          <p:nvPr/>
        </p:nvSpPr>
        <p:spPr>
          <a:xfrm>
            <a:off x="4781057" y="2797628"/>
            <a:ext cx="214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/>
              <a:t>JOIN</a:t>
            </a:r>
            <a:r>
              <a:rPr lang="en-IN" sz="2800" b="1" dirty="0"/>
              <a:t> </a:t>
            </a:r>
            <a:r>
              <a:rPr lang="en-IN" sz="2800" b="1" u="sng" dirty="0"/>
              <a:t>Practice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835693-C0C2-FB92-740D-53532468973F}"/>
              </a:ext>
            </a:extLst>
          </p:cNvPr>
          <p:cNvSpPr txBox="1"/>
          <p:nvPr/>
        </p:nvSpPr>
        <p:spPr>
          <a:xfrm>
            <a:off x="707572" y="3537153"/>
            <a:ext cx="461684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 1 — Customer and Account Details</a:t>
            </a:r>
          </a:p>
          <a:p>
            <a:r>
              <a:rPr lang="en-IN" dirty="0"/>
              <a:t>The bank wants a list showing each customer's:</a:t>
            </a:r>
          </a:p>
          <a:p>
            <a:pPr lvl="0"/>
            <a:r>
              <a:rPr lang="en-IN" dirty="0"/>
              <a:t>customer name </a:t>
            </a:r>
          </a:p>
          <a:p>
            <a:pPr lvl="0"/>
            <a:r>
              <a:rPr lang="en-IN" dirty="0"/>
              <a:t>city </a:t>
            </a:r>
          </a:p>
          <a:p>
            <a:pPr lvl="0"/>
            <a:r>
              <a:rPr lang="en-IN" dirty="0"/>
              <a:t>account type </a:t>
            </a:r>
          </a:p>
          <a:p>
            <a:pPr lvl="0"/>
            <a:r>
              <a:rPr lang="en-IN" dirty="0"/>
              <a:t>account balance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F0B80-16BC-5206-AAA4-8AA25C364FAB}"/>
              </a:ext>
            </a:extLst>
          </p:cNvPr>
          <p:cNvSpPr txBox="1"/>
          <p:nvPr/>
        </p:nvSpPr>
        <p:spPr>
          <a:xfrm>
            <a:off x="446314" y="5461617"/>
            <a:ext cx="10143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select c.customer_name,a.customer_id,t.account_id,t.transaction_type,t.amount from transactions t </a:t>
            </a:r>
          </a:p>
          <a:p>
            <a:r>
              <a:rPr lang="en-IN" dirty="0"/>
              <a:t>left join accounts a on </a:t>
            </a:r>
            <a:r>
              <a:rPr lang="en-IN" dirty="0" err="1"/>
              <a:t>t.account_id</a:t>
            </a:r>
            <a:r>
              <a:rPr lang="en-IN" dirty="0"/>
              <a:t> = </a:t>
            </a:r>
            <a:r>
              <a:rPr lang="en-IN" dirty="0" err="1"/>
              <a:t>a.account_id</a:t>
            </a:r>
            <a:r>
              <a:rPr lang="en-IN" dirty="0"/>
              <a:t> left join customers c 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a.customer_id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70235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97B6D6-3DB7-FF2D-31FC-93F2E8A3C7CC}"/>
              </a:ext>
            </a:extLst>
          </p:cNvPr>
          <p:cNvSpPr txBox="1"/>
          <p:nvPr/>
        </p:nvSpPr>
        <p:spPr>
          <a:xfrm>
            <a:off x="598713" y="1198992"/>
            <a:ext cx="1013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c.customer_name,a.customer_id,t.account_id,t.transaction_type,t.amount from transactions t left join accounts a on </a:t>
            </a:r>
            <a:r>
              <a:rPr lang="en-IN" dirty="0" err="1"/>
              <a:t>t.account_id</a:t>
            </a:r>
            <a:r>
              <a:rPr lang="en-IN" dirty="0"/>
              <a:t> = </a:t>
            </a:r>
            <a:r>
              <a:rPr lang="en-IN" dirty="0" err="1"/>
              <a:t>a.account_id</a:t>
            </a:r>
            <a:r>
              <a:rPr lang="en-IN" dirty="0"/>
              <a:t> left join customers c 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a.customer_id</a:t>
            </a:r>
            <a:r>
              <a:rPr lang="en-IN" dirty="0"/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9B4CBC-72D4-46D8-B958-17A44C398D5C}"/>
              </a:ext>
            </a:extLst>
          </p:cNvPr>
          <p:cNvSpPr txBox="1"/>
          <p:nvPr/>
        </p:nvSpPr>
        <p:spPr>
          <a:xfrm>
            <a:off x="598713" y="368778"/>
            <a:ext cx="92637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Problem 2 — Customer Transactions</a:t>
            </a:r>
            <a:endParaRPr lang="en-IN" dirty="0"/>
          </a:p>
          <a:p>
            <a:r>
              <a:rPr lang="en-IN" dirty="0"/>
              <a:t>The bank wants to know </a:t>
            </a:r>
            <a:r>
              <a:rPr lang="en-IN" b="1" dirty="0"/>
              <a:t>which customer performed each transaction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989F3F-0934-2A81-1B45-E730D3F9851F}"/>
              </a:ext>
            </a:extLst>
          </p:cNvPr>
          <p:cNvSpPr txBox="1"/>
          <p:nvPr/>
        </p:nvSpPr>
        <p:spPr>
          <a:xfrm>
            <a:off x="598713" y="2029206"/>
            <a:ext cx="9459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3 : </a:t>
            </a:r>
            <a:r>
              <a:rPr lang="en-IN" dirty="0"/>
              <a:t>The bank wants a list of customers who have an account.</a:t>
            </a:r>
          </a:p>
          <a:p>
            <a:r>
              <a:rPr lang="en-IN" dirty="0" err="1"/>
              <a:t>Display:customer_name</a:t>
            </a:r>
            <a:r>
              <a:rPr lang="en-IN" dirty="0"/>
              <a:t> ,city ,</a:t>
            </a:r>
            <a:r>
              <a:rPr lang="en-IN" dirty="0" err="1"/>
              <a:t>account_id</a:t>
            </a:r>
            <a:r>
              <a:rPr lang="en-IN" dirty="0"/>
              <a:t> ,</a:t>
            </a:r>
            <a:r>
              <a:rPr lang="en-IN" dirty="0" err="1"/>
              <a:t>account_type</a:t>
            </a:r>
            <a:r>
              <a:rPr lang="en-IN" dirty="0"/>
              <a:t> ,balance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94FB11-6A95-45AD-D400-C270F1531992}"/>
              </a:ext>
            </a:extLst>
          </p:cNvPr>
          <p:cNvSpPr txBox="1"/>
          <p:nvPr/>
        </p:nvSpPr>
        <p:spPr>
          <a:xfrm>
            <a:off x="424543" y="2952536"/>
            <a:ext cx="84543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c.customer_name,c.city,a.account_id,a.account_type,a.balance</a:t>
            </a:r>
            <a:r>
              <a:rPr lang="en-US" dirty="0"/>
              <a:t> from customers c </a:t>
            </a:r>
          </a:p>
          <a:p>
            <a:r>
              <a:rPr lang="en-US" dirty="0"/>
              <a:t>join accounts a on </a:t>
            </a:r>
            <a:r>
              <a:rPr lang="en-US" dirty="0" err="1"/>
              <a:t>c.customer_id</a:t>
            </a:r>
            <a:r>
              <a:rPr lang="en-US" dirty="0"/>
              <a:t> = </a:t>
            </a:r>
            <a:r>
              <a:rPr lang="en-US" dirty="0" err="1"/>
              <a:t>a.customer_id</a:t>
            </a:r>
            <a:r>
              <a:rPr lang="en-US" dirty="0"/>
              <a:t>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8C8B5A-27B7-2415-F8A3-ABE07B322007}"/>
              </a:ext>
            </a:extLst>
          </p:cNvPr>
          <p:cNvSpPr txBox="1"/>
          <p:nvPr/>
        </p:nvSpPr>
        <p:spPr>
          <a:xfrm>
            <a:off x="598713" y="3905465"/>
            <a:ext cx="93825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Problem:4</a:t>
            </a:r>
            <a:endParaRPr lang="en-IN" dirty="0"/>
          </a:p>
          <a:p>
            <a:r>
              <a:rPr lang="en-IN" dirty="0"/>
              <a:t>The bank wants a list of </a:t>
            </a:r>
            <a:r>
              <a:rPr lang="en-IN" b="1" dirty="0"/>
              <a:t>all accounts</a:t>
            </a:r>
            <a:r>
              <a:rPr lang="en-IN" dirty="0"/>
              <a:t>, even if an account doesn't have a matching customer record.</a:t>
            </a:r>
          </a:p>
          <a:p>
            <a:r>
              <a:rPr lang="en-IN" dirty="0" err="1"/>
              <a:t>Display:account_id</a:t>
            </a:r>
            <a:r>
              <a:rPr lang="en-IN" dirty="0"/>
              <a:t> ,</a:t>
            </a:r>
            <a:r>
              <a:rPr lang="en-IN" dirty="0" err="1"/>
              <a:t>account_type</a:t>
            </a:r>
            <a:r>
              <a:rPr lang="en-IN" dirty="0"/>
              <a:t> ,balance ,</a:t>
            </a:r>
            <a:r>
              <a:rPr lang="en-IN" dirty="0" err="1"/>
              <a:t>customer_name</a:t>
            </a:r>
            <a:r>
              <a:rPr lang="en-IN" dirty="0"/>
              <a:t> ,city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DEC8B-18BC-09A9-FB59-ED9BF52AA03F}"/>
              </a:ext>
            </a:extLst>
          </p:cNvPr>
          <p:cNvSpPr txBox="1"/>
          <p:nvPr/>
        </p:nvSpPr>
        <p:spPr>
          <a:xfrm>
            <a:off x="598713" y="5213128"/>
            <a:ext cx="84018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a.account_id,a.account_type,a.balance,c.customer_name,c.city</a:t>
            </a:r>
            <a:r>
              <a:rPr lang="en-US" dirty="0"/>
              <a:t> from accounts a  </a:t>
            </a:r>
          </a:p>
          <a:p>
            <a:r>
              <a:rPr lang="en-US" dirty="0"/>
              <a:t>right join customers c on </a:t>
            </a:r>
            <a:r>
              <a:rPr lang="en-US" dirty="0" err="1"/>
              <a:t>a.customer_id</a:t>
            </a:r>
            <a:r>
              <a:rPr lang="en-US" dirty="0"/>
              <a:t> = </a:t>
            </a:r>
            <a:r>
              <a:rPr lang="en-US" dirty="0" err="1"/>
              <a:t>c.customer_id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0308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E39A84-48BB-F61E-00CF-CA451A0AE6DB}"/>
              </a:ext>
            </a:extLst>
          </p:cNvPr>
          <p:cNvSpPr txBox="1"/>
          <p:nvPr/>
        </p:nvSpPr>
        <p:spPr>
          <a:xfrm>
            <a:off x="511629" y="326571"/>
            <a:ext cx="90247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Problem:5</a:t>
            </a:r>
            <a:endParaRPr lang="en-IN" dirty="0"/>
          </a:p>
          <a:p>
            <a:r>
              <a:rPr lang="en-IN" dirty="0"/>
              <a:t>The bank wants to see </a:t>
            </a:r>
            <a:r>
              <a:rPr lang="en-IN" b="1" dirty="0"/>
              <a:t>every customer and every account</a:t>
            </a:r>
            <a:r>
              <a:rPr lang="en-IN" dirty="0"/>
              <a:t>, including records that don't have a </a:t>
            </a:r>
          </a:p>
          <a:p>
            <a:r>
              <a:rPr lang="en-IN" dirty="0"/>
              <a:t>matching record in the other table.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FBF6F5-1575-C15A-F644-CBD4A60BA27C}"/>
              </a:ext>
            </a:extLst>
          </p:cNvPr>
          <p:cNvSpPr txBox="1"/>
          <p:nvPr/>
        </p:nvSpPr>
        <p:spPr>
          <a:xfrm>
            <a:off x="511629" y="1526900"/>
            <a:ext cx="104285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select c.customer_id,c.customer_name,a.account_id,a.account_type,a.balance from customers c </a:t>
            </a:r>
          </a:p>
          <a:p>
            <a:r>
              <a:rPr lang="en-IN" dirty="0"/>
              <a:t> left join accounts a on </a:t>
            </a:r>
            <a:r>
              <a:rPr lang="en-IN" dirty="0" err="1"/>
              <a:t>c.customer_id</a:t>
            </a:r>
            <a:r>
              <a:rPr lang="en-IN" dirty="0"/>
              <a:t>=</a:t>
            </a:r>
            <a:r>
              <a:rPr lang="en-IN" dirty="0" err="1"/>
              <a:t>a.customer_id</a:t>
            </a:r>
            <a:r>
              <a:rPr lang="en-IN" dirty="0"/>
              <a:t> </a:t>
            </a:r>
          </a:p>
          <a:p>
            <a:r>
              <a:rPr lang="en-IN" dirty="0"/>
              <a:t>UNION </a:t>
            </a:r>
          </a:p>
          <a:p>
            <a:r>
              <a:rPr lang="en-IN" dirty="0"/>
              <a:t>select c.customer_id,c.customer_name,a.account_id,a.account_type,a.balance from accounts a  </a:t>
            </a:r>
          </a:p>
          <a:p>
            <a:r>
              <a:rPr lang="en-IN" dirty="0"/>
              <a:t>right join customers c on </a:t>
            </a:r>
            <a:r>
              <a:rPr lang="en-IN" dirty="0" err="1"/>
              <a:t>a.customer_id</a:t>
            </a:r>
            <a:r>
              <a:rPr lang="en-IN" dirty="0"/>
              <a:t> = </a:t>
            </a:r>
            <a:r>
              <a:rPr lang="en-IN" dirty="0" err="1"/>
              <a:t>c.customer_id</a:t>
            </a:r>
            <a:r>
              <a:rPr lang="en-IN" dirty="0"/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17C6B0-95F8-605A-CAAD-007B5F275ECB}"/>
              </a:ext>
            </a:extLst>
          </p:cNvPr>
          <p:cNvSpPr txBox="1"/>
          <p:nvPr/>
        </p:nvSpPr>
        <p:spPr>
          <a:xfrm>
            <a:off x="511629" y="3881391"/>
            <a:ext cx="1097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e.employee_name</a:t>
            </a:r>
            <a:r>
              <a:rPr lang="en-US" dirty="0"/>
              <a:t> AS </a:t>
            </a:r>
            <a:r>
              <a:rPr lang="en-US" dirty="0" err="1"/>
              <a:t>employee,m.employee_name</a:t>
            </a:r>
            <a:r>
              <a:rPr lang="en-US" dirty="0"/>
              <a:t> AS manager FROM </a:t>
            </a:r>
            <a:r>
              <a:rPr lang="en-US" dirty="0" err="1"/>
              <a:t>bank_employees</a:t>
            </a:r>
            <a:r>
              <a:rPr lang="en-US" dirty="0"/>
              <a:t> e</a:t>
            </a:r>
          </a:p>
          <a:p>
            <a:r>
              <a:rPr lang="en-US" dirty="0"/>
              <a:t>LEFT JOIN </a:t>
            </a:r>
            <a:r>
              <a:rPr lang="en-US" dirty="0" err="1"/>
              <a:t>bank_employees</a:t>
            </a:r>
            <a:r>
              <a:rPr lang="en-US" dirty="0"/>
              <a:t> m ON </a:t>
            </a:r>
            <a:r>
              <a:rPr lang="en-US" dirty="0" err="1"/>
              <a:t>e.manager_id</a:t>
            </a:r>
            <a:r>
              <a:rPr lang="en-US" dirty="0"/>
              <a:t> = </a:t>
            </a:r>
            <a:r>
              <a:rPr lang="en-US" dirty="0" err="1"/>
              <a:t>m.employee_id</a:t>
            </a:r>
            <a:r>
              <a:rPr lang="en-US" dirty="0"/>
              <a:t>;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70F1E-627E-6C85-4461-981953F06716}"/>
              </a:ext>
            </a:extLst>
          </p:cNvPr>
          <p:cNvSpPr txBox="1"/>
          <p:nvPr/>
        </p:nvSpPr>
        <p:spPr>
          <a:xfrm>
            <a:off x="511629" y="3222171"/>
            <a:ext cx="3178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Problem:6</a:t>
            </a:r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7634E-8CDB-7B57-8F0A-DCA4119D1C9A}"/>
              </a:ext>
            </a:extLst>
          </p:cNvPr>
          <p:cNvSpPr txBox="1"/>
          <p:nvPr/>
        </p:nvSpPr>
        <p:spPr>
          <a:xfrm>
            <a:off x="511629" y="4942114"/>
            <a:ext cx="1227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Problem: 7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9AADE-1FE3-FFF3-0A19-A9DE04DC156E}"/>
              </a:ext>
            </a:extLst>
          </p:cNvPr>
          <p:cNvSpPr txBox="1"/>
          <p:nvPr/>
        </p:nvSpPr>
        <p:spPr>
          <a:xfrm>
            <a:off x="511629" y="5541172"/>
            <a:ext cx="8885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c.customer_name,ac.account_type</a:t>
            </a:r>
            <a:r>
              <a:rPr lang="en-US" dirty="0"/>
              <a:t> FROM customers c CROSS JOIN </a:t>
            </a:r>
            <a:r>
              <a:rPr lang="en-US" dirty="0" err="1"/>
              <a:t>account_types</a:t>
            </a:r>
            <a:r>
              <a:rPr lang="en-US" dirty="0"/>
              <a:t> ac;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6915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B801CB-0EEA-D0E4-5ECD-46CB6D700005}"/>
              </a:ext>
            </a:extLst>
          </p:cNvPr>
          <p:cNvSpPr txBox="1"/>
          <p:nvPr/>
        </p:nvSpPr>
        <p:spPr>
          <a:xfrm>
            <a:off x="391886" y="359229"/>
            <a:ext cx="46075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Task 1: Window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9D0CD-216E-7006-F50D-C3269062600E}"/>
              </a:ext>
            </a:extLst>
          </p:cNvPr>
          <p:cNvSpPr txBox="1"/>
          <p:nvPr/>
        </p:nvSpPr>
        <p:spPr>
          <a:xfrm>
            <a:off x="391886" y="1110342"/>
            <a:ext cx="973362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 1 — Rank Accounts by Balance</a:t>
            </a:r>
          </a:p>
          <a:p>
            <a:r>
              <a:rPr lang="en-IN" b="1" dirty="0"/>
              <a:t>Business requirement:</a:t>
            </a:r>
            <a:br>
              <a:rPr lang="en-IN" dirty="0"/>
            </a:br>
            <a:r>
              <a:rPr lang="en-IN" dirty="0"/>
              <a:t>The bank wants to rank all customer accounts based on their account balance, from highest to lowest.</a:t>
            </a:r>
          </a:p>
          <a:p>
            <a:r>
              <a:rPr lang="en-IN" b="1" dirty="0"/>
              <a:t>Display:</a:t>
            </a:r>
            <a:endParaRPr lang="en-IN" dirty="0"/>
          </a:p>
          <a:p>
            <a:pPr lvl="0"/>
            <a:r>
              <a:rPr lang="en-IN" dirty="0" err="1"/>
              <a:t>customer_id</a:t>
            </a:r>
            <a:r>
              <a:rPr lang="en-IN" dirty="0"/>
              <a:t> </a:t>
            </a:r>
          </a:p>
          <a:p>
            <a:pPr lvl="0"/>
            <a:r>
              <a:rPr lang="en-IN" dirty="0" err="1"/>
              <a:t>account_id</a:t>
            </a:r>
            <a:r>
              <a:rPr lang="en-IN" dirty="0"/>
              <a:t> </a:t>
            </a:r>
          </a:p>
          <a:p>
            <a:pPr lvl="0"/>
            <a:r>
              <a:rPr lang="en-IN" dirty="0" err="1"/>
              <a:t>account_type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balance </a:t>
            </a:r>
          </a:p>
          <a:p>
            <a:pPr lvl="0"/>
            <a:r>
              <a:rPr lang="en-IN" dirty="0"/>
              <a:t>Rank of the account based on balance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FA909-E5A0-ECA4-9336-659BCE6A6762}"/>
              </a:ext>
            </a:extLst>
          </p:cNvPr>
          <p:cNvSpPr txBox="1"/>
          <p:nvPr/>
        </p:nvSpPr>
        <p:spPr>
          <a:xfrm>
            <a:off x="391886" y="3787998"/>
            <a:ext cx="8268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*, </a:t>
            </a:r>
            <a:r>
              <a:rPr lang="en-US" dirty="0" err="1"/>
              <a:t>dense_rank</a:t>
            </a:r>
            <a:r>
              <a:rPr lang="en-US" dirty="0"/>
              <a:t> () over (order by balance desc) as </a:t>
            </a:r>
            <a:r>
              <a:rPr lang="en-US" dirty="0" err="1"/>
              <a:t>ranked_balance</a:t>
            </a:r>
            <a:r>
              <a:rPr lang="en-US" dirty="0"/>
              <a:t> from accounts;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E788F1-AEC2-A024-3448-69751568A27D}"/>
              </a:ext>
            </a:extLst>
          </p:cNvPr>
          <p:cNvSpPr txBox="1"/>
          <p:nvPr/>
        </p:nvSpPr>
        <p:spPr>
          <a:xfrm>
            <a:off x="440273" y="5442857"/>
            <a:ext cx="11359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*,</a:t>
            </a:r>
            <a:r>
              <a:rPr lang="en-US" dirty="0" err="1"/>
              <a:t>dense_rank</a:t>
            </a:r>
            <a:r>
              <a:rPr lang="en-US" dirty="0"/>
              <a:t>() over(partition by </a:t>
            </a:r>
            <a:r>
              <a:rPr lang="en-US" dirty="0" err="1"/>
              <a:t>account_type</a:t>
            </a:r>
            <a:r>
              <a:rPr lang="en-US" dirty="0"/>
              <a:t> order by balance desc) as </a:t>
            </a:r>
            <a:r>
              <a:rPr lang="en-US" dirty="0" err="1"/>
              <a:t>rankedby_account_type</a:t>
            </a:r>
            <a:r>
              <a:rPr lang="en-US" dirty="0"/>
              <a:t> from accounts;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2CE5E2-812B-DD0B-F29E-BD6C2BFB245D}"/>
              </a:ext>
            </a:extLst>
          </p:cNvPr>
          <p:cNvSpPr txBox="1"/>
          <p:nvPr/>
        </p:nvSpPr>
        <p:spPr>
          <a:xfrm>
            <a:off x="391886" y="4427194"/>
            <a:ext cx="90058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 2 — Rank Accounts by Balance Within Each Account Type</a:t>
            </a:r>
          </a:p>
          <a:p>
            <a:r>
              <a:rPr lang="en-IN" b="1" dirty="0"/>
              <a:t>Business requirement:</a:t>
            </a:r>
            <a:br>
              <a:rPr lang="en-IN" dirty="0"/>
            </a:br>
            <a:r>
              <a:rPr lang="en-IN" dirty="0"/>
              <a:t>The bank wants to rank accounts </a:t>
            </a:r>
            <a:r>
              <a:rPr lang="en-IN" b="1" dirty="0"/>
              <a:t>separately within each account type</a:t>
            </a:r>
            <a:r>
              <a:rPr lang="en-IN" dirty="0"/>
              <a:t> based on their balance.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2839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6BD314-9A8D-F351-6F9E-B591A75B4F8D}"/>
              </a:ext>
            </a:extLst>
          </p:cNvPr>
          <p:cNvSpPr txBox="1"/>
          <p:nvPr/>
        </p:nvSpPr>
        <p:spPr>
          <a:xfrm>
            <a:off x="468086" y="217714"/>
            <a:ext cx="67885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 3 — Running Total of Transactions</a:t>
            </a:r>
          </a:p>
          <a:p>
            <a:r>
              <a:rPr lang="en-IN" b="1" dirty="0"/>
              <a:t>Business requirement:</a:t>
            </a:r>
            <a:br>
              <a:rPr lang="en-IN" dirty="0"/>
            </a:br>
            <a:r>
              <a:rPr lang="en-IN" dirty="0"/>
              <a:t>The bank wants to track the cumulative transaction amount over time.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E685FD-FEC7-93CC-0F66-4865F4F5A66A}"/>
              </a:ext>
            </a:extLst>
          </p:cNvPr>
          <p:cNvSpPr txBox="1"/>
          <p:nvPr/>
        </p:nvSpPr>
        <p:spPr>
          <a:xfrm>
            <a:off x="468086" y="1418043"/>
            <a:ext cx="9294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*, sum(amount) over(order by </a:t>
            </a:r>
            <a:r>
              <a:rPr lang="en-US" dirty="0" err="1"/>
              <a:t>transaction_date</a:t>
            </a:r>
            <a:r>
              <a:rPr lang="en-US" dirty="0"/>
              <a:t>) as </a:t>
            </a:r>
            <a:r>
              <a:rPr lang="en-US" dirty="0" err="1"/>
              <a:t>cumulative_amount</a:t>
            </a:r>
            <a:r>
              <a:rPr lang="en-US" dirty="0"/>
              <a:t> from transactions;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A0D3CC-46CF-2520-A48C-839439D28A82}"/>
              </a:ext>
            </a:extLst>
          </p:cNvPr>
          <p:cNvSpPr txBox="1"/>
          <p:nvPr/>
        </p:nvSpPr>
        <p:spPr>
          <a:xfrm>
            <a:off x="468086" y="2249040"/>
            <a:ext cx="88801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 4 — Compare Each Transaction with the Previous Transaction</a:t>
            </a:r>
          </a:p>
          <a:p>
            <a:r>
              <a:rPr lang="en-IN" b="1" dirty="0"/>
              <a:t>Business requirement:</a:t>
            </a:r>
            <a:br>
              <a:rPr lang="en-IN" dirty="0"/>
            </a:br>
            <a:r>
              <a:rPr lang="en-IN" dirty="0"/>
              <a:t>The bank wants to compare each transaction amount with the </a:t>
            </a:r>
            <a:r>
              <a:rPr lang="en-IN" b="1" dirty="0"/>
              <a:t>previous transaction amount</a:t>
            </a:r>
            <a:r>
              <a:rPr lang="en-IN" dirty="0"/>
              <a:t> </a:t>
            </a:r>
          </a:p>
          <a:p>
            <a:r>
              <a:rPr lang="en-IN" dirty="0"/>
              <a:t>to identify how transaction values are changing over time.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6863D9-7C11-E2DD-237C-512234225791}"/>
              </a:ext>
            </a:extLst>
          </p:cNvPr>
          <p:cNvSpPr txBox="1"/>
          <p:nvPr/>
        </p:nvSpPr>
        <p:spPr>
          <a:xfrm>
            <a:off x="468086" y="3726368"/>
            <a:ext cx="886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*, lag(amount) over(order by </a:t>
            </a:r>
            <a:r>
              <a:rPr lang="en-US" dirty="0" err="1"/>
              <a:t>transaction_date</a:t>
            </a:r>
            <a:r>
              <a:rPr lang="en-US" dirty="0"/>
              <a:t>) as </a:t>
            </a:r>
            <a:r>
              <a:rPr lang="en-US" dirty="0" err="1"/>
              <a:t>value_over_time</a:t>
            </a:r>
            <a:r>
              <a:rPr lang="en-US" dirty="0"/>
              <a:t> from transactions;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1F35A7-231F-8F88-41AE-DFFE9777DE7D}"/>
              </a:ext>
            </a:extLst>
          </p:cNvPr>
          <p:cNvSpPr txBox="1"/>
          <p:nvPr/>
        </p:nvSpPr>
        <p:spPr>
          <a:xfrm>
            <a:off x="391886" y="4372699"/>
            <a:ext cx="9996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 5 — Average Transaction Amount per Account</a:t>
            </a:r>
          </a:p>
          <a:p>
            <a:r>
              <a:rPr lang="en-IN" b="1" dirty="0"/>
              <a:t>Business requirement:</a:t>
            </a:r>
            <a:br>
              <a:rPr lang="en-IN" dirty="0"/>
            </a:br>
            <a:r>
              <a:rPr lang="en-IN" dirty="0"/>
              <a:t>The bank wants to display each transaction along with the </a:t>
            </a:r>
            <a:r>
              <a:rPr lang="en-IN" b="1" dirty="0"/>
              <a:t>average transaction amount for that account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D5FA6A-623D-A40B-E76B-9DA1DAE2DC9D}"/>
              </a:ext>
            </a:extLst>
          </p:cNvPr>
          <p:cNvSpPr txBox="1"/>
          <p:nvPr/>
        </p:nvSpPr>
        <p:spPr>
          <a:xfrm>
            <a:off x="391886" y="5573028"/>
            <a:ext cx="985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*, avg(amount) over(partition by </a:t>
            </a:r>
            <a:r>
              <a:rPr lang="en-US" dirty="0" err="1"/>
              <a:t>account_id</a:t>
            </a:r>
            <a:r>
              <a:rPr lang="en-US" dirty="0"/>
              <a:t>) as </a:t>
            </a:r>
            <a:r>
              <a:rPr lang="en-US" dirty="0" err="1"/>
              <a:t>average_amount_by_account</a:t>
            </a:r>
            <a:r>
              <a:rPr lang="en-US" dirty="0"/>
              <a:t> from transactions;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6278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9169C1-25DA-9E43-A852-C2D0E2103D04}"/>
              </a:ext>
            </a:extLst>
          </p:cNvPr>
          <p:cNvSpPr txBox="1"/>
          <p:nvPr/>
        </p:nvSpPr>
        <p:spPr>
          <a:xfrm>
            <a:off x="522514" y="348343"/>
            <a:ext cx="965783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Stored Procedure Practice</a:t>
            </a:r>
          </a:p>
          <a:p>
            <a:r>
              <a:rPr lang="en-IN" b="1" dirty="0"/>
              <a:t>Problem 1 — Procedure without parameters</a:t>
            </a:r>
          </a:p>
          <a:p>
            <a:r>
              <a:rPr lang="en-IN" b="1" dirty="0"/>
              <a:t>Requirement:</a:t>
            </a:r>
            <a:endParaRPr lang="en-IN" dirty="0"/>
          </a:p>
          <a:p>
            <a:r>
              <a:rPr lang="en-IN" dirty="0"/>
              <a:t>Create a procedure named </a:t>
            </a:r>
            <a:r>
              <a:rPr lang="en-IN" dirty="0" err="1"/>
              <a:t>show_all_customers</a:t>
            </a:r>
            <a:r>
              <a:rPr lang="en-IN" dirty="0"/>
              <a:t> that displays all customers from the customers table.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F9FC3-E41B-E1FA-D520-55EDF1C74F3B}"/>
              </a:ext>
            </a:extLst>
          </p:cNvPr>
          <p:cNvSpPr txBox="1"/>
          <p:nvPr/>
        </p:nvSpPr>
        <p:spPr>
          <a:xfrm>
            <a:off x="827314" y="1979559"/>
            <a:ext cx="390363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delimiter $$</a:t>
            </a:r>
          </a:p>
          <a:p>
            <a:r>
              <a:rPr lang="en-US" dirty="0"/>
              <a:t>create procedure </a:t>
            </a:r>
            <a:r>
              <a:rPr lang="en-US" dirty="0" err="1"/>
              <a:t>show_all_customers</a:t>
            </a:r>
            <a:r>
              <a:rPr lang="en-US" dirty="0"/>
              <a:t>()</a:t>
            </a:r>
          </a:p>
          <a:p>
            <a:r>
              <a:rPr lang="en-US" dirty="0"/>
              <a:t>begin	</a:t>
            </a:r>
          </a:p>
          <a:p>
            <a:r>
              <a:rPr lang="en-US" dirty="0"/>
              <a:t>	select * from customers;</a:t>
            </a:r>
          </a:p>
          <a:p>
            <a:r>
              <a:rPr lang="en-US" dirty="0"/>
              <a:t>end $$</a:t>
            </a:r>
          </a:p>
          <a:p>
            <a:r>
              <a:rPr lang="en-US" dirty="0"/>
              <a:t>delimiter ;</a:t>
            </a:r>
          </a:p>
          <a:p>
            <a:r>
              <a:rPr lang="en-US" dirty="0"/>
              <a:t>call </a:t>
            </a:r>
            <a:r>
              <a:rPr lang="en-US" dirty="0" err="1"/>
              <a:t>show_all_customers</a:t>
            </a:r>
            <a:r>
              <a:rPr lang="en-US" dirty="0"/>
              <a:t>();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94CB70-B8FC-A7CC-6587-659BEDA9AF13}"/>
              </a:ext>
            </a:extLst>
          </p:cNvPr>
          <p:cNvSpPr txBox="1"/>
          <p:nvPr/>
        </p:nvSpPr>
        <p:spPr>
          <a:xfrm>
            <a:off x="522514" y="4416777"/>
            <a:ext cx="97222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 2 — Procedure with an IN parameter</a:t>
            </a:r>
          </a:p>
          <a:p>
            <a:r>
              <a:rPr lang="en-IN" dirty="0"/>
              <a:t>Create a procedure named </a:t>
            </a:r>
            <a:r>
              <a:rPr lang="en-IN" dirty="0" err="1"/>
              <a:t>get_customer_accounts</a:t>
            </a:r>
            <a:r>
              <a:rPr lang="en-IN" dirty="0"/>
              <a:t> that accepts a </a:t>
            </a:r>
            <a:r>
              <a:rPr lang="en-IN" b="1" dirty="0"/>
              <a:t>customer ID</a:t>
            </a:r>
            <a:r>
              <a:rPr lang="en-IN" dirty="0"/>
              <a:t> as an input parameter.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684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6F22E9-8101-4BE2-C729-290D44658E75}"/>
              </a:ext>
            </a:extLst>
          </p:cNvPr>
          <p:cNvSpPr txBox="1"/>
          <p:nvPr/>
        </p:nvSpPr>
        <p:spPr>
          <a:xfrm>
            <a:off x="478971" y="326571"/>
            <a:ext cx="62867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delimiter $$</a:t>
            </a:r>
          </a:p>
          <a:p>
            <a:r>
              <a:rPr lang="en-US" dirty="0"/>
              <a:t>create procedure </a:t>
            </a:r>
            <a:r>
              <a:rPr lang="en-US" dirty="0" err="1"/>
              <a:t>get_customer_accounts</a:t>
            </a:r>
            <a:r>
              <a:rPr lang="en-US" dirty="0"/>
              <a:t>(in </a:t>
            </a:r>
            <a:r>
              <a:rPr lang="en-US" dirty="0" err="1"/>
              <a:t>p_cust_id</a:t>
            </a:r>
            <a:r>
              <a:rPr lang="en-US" dirty="0"/>
              <a:t> int)</a:t>
            </a:r>
          </a:p>
          <a:p>
            <a:r>
              <a:rPr lang="en-US" dirty="0"/>
              <a:t>begin	</a:t>
            </a:r>
          </a:p>
          <a:p>
            <a:r>
              <a:rPr lang="en-US" dirty="0"/>
              <a:t>	select * from accounts where </a:t>
            </a:r>
            <a:r>
              <a:rPr lang="en-US" dirty="0" err="1"/>
              <a:t>customer_id</a:t>
            </a:r>
            <a:r>
              <a:rPr lang="en-US" dirty="0"/>
              <a:t> = </a:t>
            </a:r>
            <a:r>
              <a:rPr lang="en-US" dirty="0" err="1"/>
              <a:t>p_cust_id</a:t>
            </a:r>
            <a:r>
              <a:rPr lang="en-US" dirty="0"/>
              <a:t>;</a:t>
            </a:r>
          </a:p>
          <a:p>
            <a:r>
              <a:rPr lang="en-US" dirty="0"/>
              <a:t>end $$</a:t>
            </a:r>
          </a:p>
          <a:p>
            <a:r>
              <a:rPr lang="en-US" dirty="0"/>
              <a:t>delimiter ;</a:t>
            </a:r>
          </a:p>
          <a:p>
            <a:r>
              <a:rPr lang="en-US" dirty="0"/>
              <a:t>call </a:t>
            </a:r>
            <a:r>
              <a:rPr lang="en-US" dirty="0" err="1"/>
              <a:t>get_customer_accounts</a:t>
            </a:r>
            <a:r>
              <a:rPr lang="en-US" dirty="0"/>
              <a:t>(101);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4BD867-B8B3-DAF9-8640-3632D3C658AF}"/>
              </a:ext>
            </a:extLst>
          </p:cNvPr>
          <p:cNvSpPr txBox="1"/>
          <p:nvPr/>
        </p:nvSpPr>
        <p:spPr>
          <a:xfrm>
            <a:off x="478971" y="2547257"/>
            <a:ext cx="103148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Problem 3 — Procedure with an IN parameter + condition</a:t>
            </a:r>
          </a:p>
          <a:p>
            <a:r>
              <a:rPr lang="en-IN" dirty="0"/>
              <a:t>Create a procedure named </a:t>
            </a:r>
            <a:r>
              <a:rPr lang="en-IN" dirty="0" err="1"/>
              <a:t>get_transactions_by_type</a:t>
            </a:r>
            <a:r>
              <a:rPr lang="en-IN" dirty="0"/>
              <a:t> that accepts a </a:t>
            </a:r>
            <a:r>
              <a:rPr lang="en-IN" b="1" dirty="0"/>
              <a:t>transaction type</a:t>
            </a:r>
            <a:r>
              <a:rPr lang="en-IN" dirty="0"/>
              <a:t> as an input parameter.</a:t>
            </a:r>
          </a:p>
          <a:p>
            <a:r>
              <a:rPr lang="en-IN" dirty="0"/>
              <a:t>The procedure should return transactions matching that type.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361BE-0C45-DDC4-5D89-535A8CC193AE}"/>
              </a:ext>
            </a:extLst>
          </p:cNvPr>
          <p:cNvSpPr txBox="1"/>
          <p:nvPr/>
        </p:nvSpPr>
        <p:spPr>
          <a:xfrm>
            <a:off x="478971" y="3936947"/>
            <a:ext cx="879221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delimiter $$ create procedure </a:t>
            </a:r>
            <a:r>
              <a:rPr lang="en-IN" dirty="0" err="1"/>
              <a:t>get_transactions_by_type</a:t>
            </a:r>
            <a:r>
              <a:rPr lang="en-IN" dirty="0"/>
              <a:t>(in </a:t>
            </a:r>
            <a:r>
              <a:rPr lang="en-IN" dirty="0" err="1"/>
              <a:t>P_transaction_type</a:t>
            </a:r>
            <a:r>
              <a:rPr lang="en-IN" dirty="0"/>
              <a:t> varchar(50))</a:t>
            </a:r>
          </a:p>
          <a:p>
            <a:r>
              <a:rPr lang="en-IN" dirty="0"/>
              <a:t> begin	</a:t>
            </a:r>
          </a:p>
          <a:p>
            <a:r>
              <a:rPr lang="en-IN" dirty="0"/>
              <a:t>	select * from transactions where </a:t>
            </a:r>
            <a:r>
              <a:rPr lang="en-IN" dirty="0" err="1"/>
              <a:t>transaction_type</a:t>
            </a:r>
            <a:r>
              <a:rPr lang="en-IN" dirty="0"/>
              <a:t> = </a:t>
            </a:r>
            <a:r>
              <a:rPr lang="en-IN" dirty="0" err="1"/>
              <a:t>P_transaction_type</a:t>
            </a:r>
            <a:r>
              <a:rPr lang="en-IN" dirty="0"/>
              <a:t>;</a:t>
            </a:r>
          </a:p>
          <a:p>
            <a:r>
              <a:rPr lang="en-IN" dirty="0"/>
              <a:t>end $$</a:t>
            </a:r>
          </a:p>
          <a:p>
            <a:r>
              <a:rPr lang="en-IN" dirty="0"/>
              <a:t>delimiter ;</a:t>
            </a:r>
          </a:p>
          <a:p>
            <a:r>
              <a:rPr lang="en-IN" dirty="0"/>
              <a:t>call </a:t>
            </a:r>
            <a:r>
              <a:rPr lang="en-IN" dirty="0" err="1"/>
              <a:t>get_transactions_by_type</a:t>
            </a:r>
            <a:r>
              <a:rPr lang="en-IN" dirty="0"/>
              <a:t>("Deposit");</a:t>
            </a:r>
          </a:p>
        </p:txBody>
      </p:sp>
    </p:spTree>
    <p:extLst>
      <p:ext uri="{BB962C8B-B14F-4D97-AF65-F5344CB8AC3E}">
        <p14:creationId xmlns:p14="http://schemas.microsoft.com/office/powerpoint/2010/main" val="1915339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</TotalTime>
  <Words>1469</Words>
  <Application>Microsoft Office PowerPoint</Application>
  <PresentationFormat>Widescreen</PresentationFormat>
  <Paragraphs>120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Vasunthara K</dc:creator>
  <cp:lastModifiedBy>Vasunthara K</cp:lastModifiedBy>
  <cp:revision>11</cp:revision>
  <dcterms:created xsi:type="dcterms:W3CDTF">2026-09-24T03:07:07Z</dcterms:created>
  <dcterms:modified xsi:type="dcterms:W3CDTF">2026-09-25T18:09:27Z</dcterms:modified>
</cp:coreProperties>
</file>